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项目来源：AGENTS.md、docs/project-context.md。题目与成员信息来自用户提供的课程设计资料。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项目来源：AGENTS.md、docs/project-context.md。该页说明课程设计题目和任务要求，后续页面说明具体方案与实现。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项目来源：温湿度监测与风扇控制系统_设计报告初稿.docx 图3。引脚分配与模块关系来自报告。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图片来源：Arduino Uno Rev3 官方产品页 https://store.arduino.cc/products/arduino-uno-rev3；Adafruit DHT22 产品页 https://www.adafruit.com/product/385；Adafruit 0.96英寸 OLED 产品页 https://www.adafruit.com/product/326；ITEAD HC-06 产品页 https://itead.cc/product/serial-port-bluetooth-module-slave-hc-06/；Adafruit Buzzer 5V 产品页 https://www.adafruit.com/product/1536；Adafruit Miniature 5V Cooling Fan 产品页 https://www.adafruit.com/product/3368。图片仅用于课程汇报中的器件示意。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项目来源：温湿度监测与风扇控制系统_设计报告初稿.docx 图4。阈值、回差和控制流程来自当前主程序设计说明。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项目来源：AGENTS.md、docs/project-context.md。安全覆盖、静音命令含义来自项目说明。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项目调试记录：用户现场完成两只 DHT22、两套库、原始帧与更换 Uno 的对照。该页不将异常数值作为环境实测数据。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项目来源：温湿度监测系统实验记录表_实测数据.xlsx 的三点布点页。门口、中间、末尾各5条记录，共15条有效记录。布点数量是工程设计建议：按分区和空间梯度确定，不把本页数据直接外推为固定的每平方米设备数。传感器应放在作物冠层高度，避开门、风口、墙面和直射阳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数据来源：温湿度监测系统实验记录表_对比数据已填入.xlsx，精度与稳定性工作表。DHT22为被测传感器，SHT40为参考传感器；曲线由30组记录直接生成。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项目来源：AGENTS.md、docs/project-context.md。命令集及安全含义来自当前项目说明。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项目来源：温湿度监测系统实验记录表_功能测试完成版.xlsx，功能安全测试页。7项功能测试均已现场通过。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项目来源：项目 video 目录及温湿度监测系统实验记录表_功能测试完成版.xlsx。视频为现场验证证据。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DHT22为被测传感器，SHT40为参考传感器。项目来源：温湿度监测系统实验记录表_对比数据已填入.xlsx，三种工况各10组。DHT22资料：Adafruit DHT11, DHT22 and AM2302 Sensors Overview。SHT40资料：Sensirion Datasheet SHT4x Digital Humidity and Temperature Sensor，https://sensirion.com/media/documents/33FD6951/67F209B7/HT_DS_Datasheet_SHT4x.pdf。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DHT22为被测传感器，SHT40为参考传感器。DHT22标称精度：温度±0.5℃、湿度±2%RH；SHT40厂家给出：温度±0.1℃、湿度±1.0%RH。均方根合成：温度sqrt(0.5^2+0.1^2)=0.51℃，湿度sqrt(2^2+1^2)=2.24%RH。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项目结论基于当前主程序、新板 DHT22 链路验证、三种工况对比统计和七项功能验证。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88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bin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../../video/05_&#36328;&#26102;&#27573;&#33258;&#21160;&#20999;&#25442;.mp4" TargetMode="External"/><Relationship Id="rId3" Type="http://schemas.openxmlformats.org/officeDocument/2006/relationships/hyperlink" Target="../../video/01_&#31995;&#32479;&#24635;&#35272;.mp4" TargetMode="External"/><Relationship Id="rId7" Type="http://schemas.openxmlformats.org/officeDocument/2006/relationships/hyperlink" Target="../../video/10_&#25253;&#35686;&#38745;&#38899;.mp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../../video/09_&#20005;&#37325;&#25253;&#35686;.mp4" TargetMode="External"/><Relationship Id="rId5" Type="http://schemas.openxmlformats.org/officeDocument/2006/relationships/hyperlink" Target="../../video/08_&#39044;&#35686;&#32852;&#21160;.mp4" TargetMode="External"/><Relationship Id="rId4" Type="http://schemas.openxmlformats.org/officeDocument/2006/relationships/hyperlink" Target="../../video/07_&#27491;&#24120;&#33539;&#22260;.mp4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DA081A3-B063-4B7C-96D0-3A767D8A07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7"/>
          </a:solidFill>
          <a:ln w="0">
            <a:solidFill>
              <a:srgbClr val="F7FAF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A682BEA-34B7-458D-9134-086811BA9F81}"/>
              </a:ext>
            </a:extLst>
          </p:cNvPr>
          <p:cNvSpPr>
            <a:spLocks noGrp="1"/>
          </p:cNvSpPr>
          <p:nvPr/>
        </p:nvSpPr>
        <p:spPr>
          <a:xfrm>
            <a:off x="7829550" y="-1447800"/>
            <a:ext cx="4953000" cy="4953000"/>
          </a:xfrm>
          <a:prstGeom prst="ellipse">
            <a:avLst/>
          </a:prstGeom>
          <a:solidFill>
            <a:srgbClr val="DDEFE8"/>
          </a:solidFill>
          <a:ln w="0">
            <a:solidFill>
              <a:srgbClr val="DDEFE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345CA01-4C9B-4526-B926-CBE9A6420C81}"/>
              </a:ext>
            </a:extLst>
          </p:cNvPr>
          <p:cNvSpPr>
            <a:spLocks noGrp="1"/>
          </p:cNvSpPr>
          <p:nvPr/>
        </p:nvSpPr>
        <p:spPr>
          <a:xfrm>
            <a:off x="9220200" y="4000500"/>
            <a:ext cx="3238500" cy="3238500"/>
          </a:xfrm>
          <a:prstGeom prst="ellipse">
            <a:avLst/>
          </a:prstGeom>
          <a:solidFill>
            <a:srgbClr val="C5E4D7"/>
          </a:solidFill>
          <a:ln w="0">
            <a:solidFill>
              <a:srgbClr val="C5E4D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61C9373-4730-48C6-9B02-2904F8E1B3F7}"/>
              </a:ext>
            </a:extLst>
          </p:cNvPr>
          <p:cNvSpPr>
            <a:spLocks noGrp="1"/>
          </p:cNvSpPr>
          <p:nvPr/>
        </p:nvSpPr>
        <p:spPr>
          <a:xfrm>
            <a:off x="742950" y="914400"/>
            <a:ext cx="2714625" cy="342900"/>
          </a:xfrm>
          <a:prstGeom prst="roundRect">
            <a:avLst>
              <a:gd name="adj" fmla="val 22222"/>
            </a:avLst>
          </a:prstGeom>
          <a:solidFill>
            <a:srgbClr val="2F7A63"/>
          </a:solidFill>
          <a:ln w="0">
            <a:solidFill>
              <a:srgbClr val="2F7A63"/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智能传感网络与检测系统综合设计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EE9199-0663-4CD6-9261-05440074D4BA}"/>
              </a:ext>
            </a:extLst>
          </p:cNvPr>
          <p:cNvSpPr>
            <a:spLocks noGrp="1"/>
          </p:cNvSpPr>
          <p:nvPr/>
        </p:nvSpPr>
        <p:spPr>
          <a:xfrm>
            <a:off x="742950" y="1543050"/>
            <a:ext cx="657225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室内大棚温湿度</a:t>
            </a:r>
          </a:p>
          <a:p>
            <a:pPr algn="l">
              <a:defRPr sz="360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监测与风扇控制系统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310781-2EF7-4BC3-9DFB-C954396665BF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5953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F7A63"/>
                </a:solidFill>
                <a:latin typeface="Arial"/>
                <a:ea typeface="Arial"/>
                <a:cs typeface="Arial"/>
              </a:rPr>
              <a:t>Arduino Uno  +  DHT22  +  OLED  +  蓝牙串口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8692305B-8E4F-4642-BC89-96E95F6B1C44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5476875" cy="0"/>
          </a:xfrm>
          <a:prstGeom prst="line">
            <a:avLst/>
          </a:prstGeom>
          <a:noFill/>
          <a:ln w="28575">
            <a:solidFill>
              <a:srgbClr val="2F7A6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BF472C-6F5E-4BF6-8AA5-63D817975B0A}"/>
              </a:ext>
            </a:extLst>
          </p:cNvPr>
          <p:cNvSpPr>
            <a:spLocks noGrp="1"/>
          </p:cNvSpPr>
          <p:nvPr/>
        </p:nvSpPr>
        <p:spPr>
          <a:xfrm>
            <a:off x="781050" y="4495800"/>
            <a:ext cx="59055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汇报人：    学号：    班级：</a:t>
            </a:r>
          </a:p>
          <a:p>
            <a:pPr algn="l">
              <a:defRPr sz="157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endParaRPr sz="1575" b="0">
              <a:solidFill>
                <a:srgbClr val="6874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7620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1657910-E2A7-4930-8EE2-6143F78BD36E}"/>
              </a:ext>
            </a:extLst>
          </p:cNvPr>
          <p:cNvSpPr txBox="1"/>
          <p:nvPr/>
        </p:nvSpPr>
        <p:spPr>
          <a:xfrm>
            <a:off x="660400" y="355600"/>
            <a:ext cx="10414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4F5936"/>
                </a:solidFill>
              </a:rPr>
              <a:t>汇报目录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FD7A5A-2D3F-AA07-16D9-206E275910EE}"/>
              </a:ext>
            </a:extLst>
          </p:cNvPr>
          <p:cNvSpPr/>
          <p:nvPr/>
        </p:nvSpPr>
        <p:spPr>
          <a:xfrm>
            <a:off x="660400" y="1041400"/>
            <a:ext cx="10871200" cy="12700"/>
          </a:xfrm>
          <a:prstGeom prst="rect">
            <a:avLst/>
          </a:prstGeom>
          <a:solidFill>
            <a:srgbClr val="D0D8C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290B0CF-C27A-7484-DB7B-D202FB9A3A3F}"/>
              </a:ext>
            </a:extLst>
          </p:cNvPr>
          <p:cNvSpPr/>
          <p:nvPr/>
        </p:nvSpPr>
        <p:spPr>
          <a:xfrm>
            <a:off x="660400" y="1587500"/>
            <a:ext cx="5207000" cy="812800"/>
          </a:xfrm>
          <a:prstGeom prst="roundRect">
            <a:avLst/>
          </a:prstGeom>
          <a:solidFill>
            <a:srgbClr val="F7FAF7"/>
          </a:solidFill>
          <a:ln>
            <a:solidFill>
              <a:srgbClr val="D0D8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rgbClr val="323B1F"/>
                </a:solidFill>
              </a:rPr>
              <a:t>01  </a:t>
            </a:r>
            <a:r>
              <a:rPr lang="zh-CN" altLang="en-US" sz="1400">
                <a:solidFill>
                  <a:srgbClr val="323B1F"/>
                </a:solidFill>
              </a:rPr>
              <a:t>项目目标
监测、报警与风扇联动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54AD58A-4D04-2829-9CF2-82590B66589A}"/>
              </a:ext>
            </a:extLst>
          </p:cNvPr>
          <p:cNvSpPr/>
          <p:nvPr/>
        </p:nvSpPr>
        <p:spPr>
          <a:xfrm>
            <a:off x="660400" y="2705100"/>
            <a:ext cx="5207000" cy="812800"/>
          </a:xfrm>
          <a:prstGeom prst="roundRect">
            <a:avLst/>
          </a:prstGeom>
          <a:solidFill>
            <a:srgbClr val="F7FAF7"/>
          </a:solidFill>
          <a:ln>
            <a:solidFill>
              <a:srgbClr val="D0D8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rgbClr val="323B1F"/>
                </a:solidFill>
              </a:rPr>
              <a:t>02  </a:t>
            </a:r>
            <a:r>
              <a:rPr lang="zh-CN" altLang="en-US" sz="1400">
                <a:solidFill>
                  <a:srgbClr val="323B1F"/>
                </a:solidFill>
              </a:rPr>
              <a:t>系统总体方案
采集、判断、显示与控制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1DA14EA-3FF1-C702-2EC3-10934A8CF278}"/>
              </a:ext>
            </a:extLst>
          </p:cNvPr>
          <p:cNvSpPr/>
          <p:nvPr/>
        </p:nvSpPr>
        <p:spPr>
          <a:xfrm>
            <a:off x="660400" y="3822700"/>
            <a:ext cx="5207000" cy="812800"/>
          </a:xfrm>
          <a:prstGeom prst="roundRect">
            <a:avLst/>
          </a:prstGeom>
          <a:solidFill>
            <a:srgbClr val="F7FAF7"/>
          </a:solidFill>
          <a:ln>
            <a:solidFill>
              <a:srgbClr val="D0D8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rgbClr val="323B1F"/>
                </a:solidFill>
              </a:rPr>
              <a:t>03  </a:t>
            </a:r>
            <a:r>
              <a:rPr lang="zh-CN" altLang="en-US" sz="1400">
                <a:solidFill>
                  <a:srgbClr val="323B1F"/>
                </a:solidFill>
              </a:rPr>
              <a:t>硬件与软件实现
</a:t>
            </a:r>
            <a:r>
              <a:rPr lang="en-US" altLang="zh-CN" sz="1400">
                <a:solidFill>
                  <a:srgbClr val="323B1F"/>
                </a:solidFill>
              </a:rPr>
              <a:t>Arduino</a:t>
            </a:r>
            <a:r>
              <a:rPr lang="zh-CN" altLang="en-US" sz="1400">
                <a:solidFill>
                  <a:srgbClr val="323B1F"/>
                </a:solidFill>
              </a:rPr>
              <a:t>、</a:t>
            </a:r>
            <a:r>
              <a:rPr lang="en-US" altLang="zh-CN" sz="1400">
                <a:solidFill>
                  <a:srgbClr val="323B1F"/>
                </a:solidFill>
              </a:rPr>
              <a:t>DHT22</a:t>
            </a:r>
            <a:r>
              <a:rPr lang="zh-CN" altLang="en-US" sz="1400">
                <a:solidFill>
                  <a:srgbClr val="323B1F"/>
                </a:solidFill>
              </a:rPr>
              <a:t>、</a:t>
            </a:r>
            <a:r>
              <a:rPr lang="en-US" altLang="zh-CN" sz="1400">
                <a:solidFill>
                  <a:srgbClr val="323B1F"/>
                </a:solidFill>
              </a:rPr>
              <a:t>OLED</a:t>
            </a:r>
            <a:r>
              <a:rPr lang="zh-CN" altLang="en-US" sz="1400">
                <a:solidFill>
                  <a:srgbClr val="323B1F"/>
                </a:solidFill>
              </a:rPr>
              <a:t>、蓝牙与程序流程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A207C97-3F02-789C-19BF-7F77CFE2380C}"/>
              </a:ext>
            </a:extLst>
          </p:cNvPr>
          <p:cNvSpPr/>
          <p:nvPr/>
        </p:nvSpPr>
        <p:spPr>
          <a:xfrm>
            <a:off x="660400" y="4940300"/>
            <a:ext cx="5207000" cy="812800"/>
          </a:xfrm>
          <a:prstGeom prst="roundRect">
            <a:avLst/>
          </a:prstGeom>
          <a:solidFill>
            <a:srgbClr val="F7FAF7"/>
          </a:solidFill>
          <a:ln>
            <a:solidFill>
              <a:srgbClr val="D0D8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rgbClr val="323B1F"/>
                </a:solidFill>
              </a:rPr>
              <a:t>04  </a:t>
            </a:r>
            <a:r>
              <a:rPr lang="zh-CN" altLang="en-US" sz="1400">
                <a:solidFill>
                  <a:srgbClr val="323B1F"/>
                </a:solidFill>
              </a:rPr>
              <a:t>数据记录与布点
三点记录、均值与设备布点建议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06778FC-74A9-3CF4-37C7-B0BE3A1B43C2}"/>
              </a:ext>
            </a:extLst>
          </p:cNvPr>
          <p:cNvSpPr/>
          <p:nvPr/>
        </p:nvSpPr>
        <p:spPr>
          <a:xfrm>
            <a:off x="6350000" y="1587500"/>
            <a:ext cx="5207000" cy="812800"/>
          </a:xfrm>
          <a:prstGeom prst="roundRect">
            <a:avLst/>
          </a:prstGeom>
          <a:solidFill>
            <a:srgbClr val="F7FAF7"/>
          </a:solidFill>
          <a:ln>
            <a:solidFill>
              <a:srgbClr val="D0D8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rgbClr val="323B1F"/>
                </a:solidFill>
              </a:rPr>
              <a:t>05  </a:t>
            </a:r>
            <a:r>
              <a:rPr lang="zh-CN" altLang="en-US" sz="1400">
                <a:solidFill>
                  <a:srgbClr val="323B1F"/>
                </a:solidFill>
              </a:rPr>
              <a:t>控制逻辑与功能测试
阈值、回差、安全覆盖与静音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523FE90-E87E-9FA6-418D-9E9BB8606F23}"/>
              </a:ext>
            </a:extLst>
          </p:cNvPr>
          <p:cNvSpPr/>
          <p:nvPr/>
        </p:nvSpPr>
        <p:spPr>
          <a:xfrm>
            <a:off x="6350000" y="2705100"/>
            <a:ext cx="5207000" cy="812800"/>
          </a:xfrm>
          <a:prstGeom prst="roundRect">
            <a:avLst/>
          </a:prstGeom>
          <a:solidFill>
            <a:srgbClr val="F7FAF7"/>
          </a:solidFill>
          <a:ln>
            <a:solidFill>
              <a:srgbClr val="D0D8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rgbClr val="323B1F"/>
                </a:solidFill>
              </a:rPr>
              <a:t>06  </a:t>
            </a:r>
            <a:r>
              <a:rPr lang="zh-CN" altLang="en-US" sz="1400">
                <a:solidFill>
                  <a:srgbClr val="323B1F"/>
                </a:solidFill>
              </a:rPr>
              <a:t>视频展示</a:t>
            </a:r>
          </a:p>
          <a:p>
            <a:r>
              <a:rPr lang="zh-CN" altLang="en-US" sz="1400">
                <a:solidFill>
                  <a:srgbClr val="323B1F"/>
                </a:solidFill>
              </a:rPr>
              <a:t>硬件功能介绍与五项实际验证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D49D535-739E-33F1-3214-F6AA286CBBAD}"/>
              </a:ext>
            </a:extLst>
          </p:cNvPr>
          <p:cNvSpPr/>
          <p:nvPr/>
        </p:nvSpPr>
        <p:spPr>
          <a:xfrm>
            <a:off x="6350000" y="3822700"/>
            <a:ext cx="5207000" cy="812800"/>
          </a:xfrm>
          <a:prstGeom prst="roundRect">
            <a:avLst/>
          </a:prstGeom>
          <a:solidFill>
            <a:srgbClr val="F7FAF7"/>
          </a:solidFill>
          <a:ln>
            <a:solidFill>
              <a:srgbClr val="D0D8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rgbClr val="323B1F"/>
                </a:solidFill>
              </a:rPr>
              <a:t>07  </a:t>
            </a:r>
            <a:r>
              <a:rPr lang="zh-CN" altLang="en-US" sz="1400">
                <a:solidFill>
                  <a:srgbClr val="323B1F"/>
                </a:solidFill>
              </a:rPr>
              <a:t>误差分析与总结
</a:t>
            </a:r>
            <a:r>
              <a:rPr lang="en-US" altLang="zh-CN" sz="1400">
                <a:solidFill>
                  <a:srgbClr val="323B1F"/>
                </a:solidFill>
              </a:rPr>
              <a:t>DHT22 </a:t>
            </a:r>
            <a:r>
              <a:rPr lang="zh-CN" altLang="en-US" sz="1400">
                <a:solidFill>
                  <a:srgbClr val="323B1F"/>
                </a:solidFill>
              </a:rPr>
              <a:t>参数、对比结果与结论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FE7028-6DB7-2328-FE34-E19236519710}"/>
              </a:ext>
            </a:extLst>
          </p:cNvPr>
          <p:cNvSpPr txBox="1"/>
          <p:nvPr/>
        </p:nvSpPr>
        <p:spPr>
          <a:xfrm>
            <a:off x="660400" y="6248400"/>
            <a:ext cx="108712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F5936"/>
                </a:solidFill>
              </a:rPr>
              <a:t>汇报顺序：方案 → 实现 → 数据 → 验证 → 结论</a:t>
            </a:r>
          </a:p>
        </p:txBody>
      </p:sp>
    </p:spTree>
    <p:extLst>
      <p:ext uri="{BB962C8B-B14F-4D97-AF65-F5344CB8AC3E}">
        <p14:creationId xmlns:p14="http://schemas.microsoft.com/office/powerpoint/2010/main" val="87965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B9F81AB-71BB-4737-AE0D-E0EE94EEA9C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课程设计任务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92E46528-883E-4661-BC42-A96C567DF71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D2C869-40A8-4CD4-95D8-0E899E25AC8A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03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658425-41D1-4F0E-A386-48CA211B952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题目：室内大棚温湿度监测与风扇控制系统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8DAEC4-9D02-474C-8D7A-64C3DD483F30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33"/>
          </a:bodyPr>
          <a:lstStyle/>
          <a:p>
            <a:pPr algn="l">
              <a:defRPr sz="150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课程要求：完成环境参数监测、异常报警和通风联动控制的系统设计与功能验证。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19792F9-9F26-4F0B-AAD0-B7FD8616A853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3143250" cy="176212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9E12E9-FAE4-4AB4-B17C-2659C0D0072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66675" cy="1762125"/>
          </a:xfrm>
          <a:prstGeom prst="rect">
            <a:avLst/>
          </a:prstGeom>
          <a:solidFill>
            <a:srgbClr val="2F7A63"/>
          </a:solidFill>
          <a:ln w="0">
            <a:solidFill>
              <a:srgbClr val="2F7A6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357C67-1851-4914-AD23-77A44180CDD9}"/>
              </a:ext>
            </a:extLst>
          </p:cNvPr>
          <p:cNvSpPr>
            <a:spLocks noGrp="1"/>
          </p:cNvSpPr>
          <p:nvPr/>
        </p:nvSpPr>
        <p:spPr>
          <a:xfrm>
            <a:off x="914400" y="2647950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73" lnSpcReduction="20000"/>
          </a:bodyPr>
          <a:lstStyle/>
          <a:p>
            <a:pPr algn="l">
              <a:defRPr sz="16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温湿度监测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6C6453-00DE-4FC7-A106-CC2F47E7101C}"/>
              </a:ext>
            </a:extLst>
          </p:cNvPr>
          <p:cNvSpPr>
            <a:spLocks noGrp="1"/>
          </p:cNvSpPr>
          <p:nvPr/>
        </p:nvSpPr>
        <p:spPr>
          <a:xfrm>
            <a:off x="914400" y="3009900"/>
            <a:ext cx="27432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实时采集室内大棚的温度和相对湿度，提供现场显示与数据查看。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53FD2D2-1092-4329-917A-C41EA5A96073}"/>
              </a:ext>
            </a:extLst>
          </p:cNvPr>
          <p:cNvSpPr>
            <a:spLocks noGrp="1"/>
          </p:cNvSpPr>
          <p:nvPr/>
        </p:nvSpPr>
        <p:spPr>
          <a:xfrm>
            <a:off x="4514850" y="2476500"/>
            <a:ext cx="3143250" cy="176212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2D308A-02A8-44B4-81C8-F6349648B157}"/>
              </a:ext>
            </a:extLst>
          </p:cNvPr>
          <p:cNvSpPr>
            <a:spLocks noGrp="1"/>
          </p:cNvSpPr>
          <p:nvPr/>
        </p:nvSpPr>
        <p:spPr>
          <a:xfrm>
            <a:off x="4514850" y="2476500"/>
            <a:ext cx="66675" cy="1762125"/>
          </a:xfrm>
          <a:prstGeom prst="rect">
            <a:avLst/>
          </a:prstGeom>
          <a:solidFill>
            <a:srgbClr val="D9902F"/>
          </a:solidFill>
          <a:ln w="0">
            <a:solidFill>
              <a:srgbClr val="D9902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E5150C-99A8-45A7-AAFE-5C35FABF4C6A}"/>
              </a:ext>
            </a:extLst>
          </p:cNvPr>
          <p:cNvSpPr>
            <a:spLocks noGrp="1"/>
          </p:cNvSpPr>
          <p:nvPr/>
        </p:nvSpPr>
        <p:spPr>
          <a:xfrm>
            <a:off x="4743450" y="2647950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73" lnSpcReduction="20000"/>
          </a:bodyPr>
          <a:lstStyle/>
          <a:p>
            <a:pPr algn="l">
              <a:defRPr sz="16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异常报警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A97F59-EACC-436A-B333-435E9A14F238}"/>
              </a:ext>
            </a:extLst>
          </p:cNvPr>
          <p:cNvSpPr>
            <a:spLocks noGrp="1"/>
          </p:cNvSpPr>
          <p:nvPr/>
        </p:nvSpPr>
        <p:spPr>
          <a:xfrm>
            <a:off x="4743450" y="3009900"/>
            <a:ext cx="27432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当温湿度超过设定范围时，给出分级声光提示，并保证报警状态可识别。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447E7B6-22C8-46A7-A3B1-39ABAEC4939E}"/>
              </a:ext>
            </a:extLst>
          </p:cNvPr>
          <p:cNvSpPr>
            <a:spLocks noGrp="1"/>
          </p:cNvSpPr>
          <p:nvPr/>
        </p:nvSpPr>
        <p:spPr>
          <a:xfrm>
            <a:off x="8343900" y="2476500"/>
            <a:ext cx="3143250" cy="176212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C22101-0C4F-4F04-A7F1-5D71506DCD17}"/>
              </a:ext>
            </a:extLst>
          </p:cNvPr>
          <p:cNvSpPr>
            <a:spLocks noGrp="1"/>
          </p:cNvSpPr>
          <p:nvPr/>
        </p:nvSpPr>
        <p:spPr>
          <a:xfrm>
            <a:off x="8343900" y="2476500"/>
            <a:ext cx="66675" cy="1762125"/>
          </a:xfrm>
          <a:prstGeom prst="rect">
            <a:avLst/>
          </a:prstGeom>
          <a:solidFill>
            <a:srgbClr val="113B36"/>
          </a:solidFill>
          <a:ln w="0">
            <a:solidFill>
              <a:srgbClr val="113B3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83FF93-FDAD-47EE-8DB7-7932BB192163}"/>
              </a:ext>
            </a:extLst>
          </p:cNvPr>
          <p:cNvSpPr>
            <a:spLocks noGrp="1"/>
          </p:cNvSpPr>
          <p:nvPr/>
        </p:nvSpPr>
        <p:spPr>
          <a:xfrm>
            <a:off x="8572500" y="2647950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73" lnSpcReduction="20000"/>
          </a:bodyPr>
          <a:lstStyle/>
          <a:p>
            <a:pPr algn="l">
              <a:defRPr sz="16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风扇控制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B74A9C-2C7E-4C85-AEB9-46DCE49B2455}"/>
              </a:ext>
            </a:extLst>
          </p:cNvPr>
          <p:cNvSpPr>
            <a:spLocks noGrp="1"/>
          </p:cNvSpPr>
          <p:nvPr/>
        </p:nvSpPr>
        <p:spPr>
          <a:xfrm>
            <a:off x="8572500" y="3009900"/>
            <a:ext cx="2743200" cy="1095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根据环境状态联动风扇，并提供人工查询与控制入口，完成基础功能测试。</a:t>
            </a:r>
          </a:p>
        </p:txBody>
      </p:sp>
    </p:spTree>
    <p:extLst>
      <p:ext uri="{BB962C8B-B14F-4D97-AF65-F5344CB8AC3E}">
        <p14:creationId xmlns:p14="http://schemas.microsoft.com/office/powerpoint/2010/main" val="1857827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3B9C9B4-F8A3-4A31-902D-2D898263F89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系统总体方案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7A869FFB-79FE-4646-BE64-54422234DA7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9A2681-1BB3-4170-8B01-4184863D3FFB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04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F25288-5F87-4FC7-9034-779B6D27C641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00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各模块通过 Arduino Uno 完成采集、判断、显示与控制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79787" y="1762125"/>
            <a:ext cx="8432426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7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C514747B-5DF8-4201-B056-4A62C0ECCC4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系统所用硬件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817C6B26-F3C6-46F1-8097-3874ED6CD1E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DF92FE-D4F6-478E-8342-472A229094B6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05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6B740F-A58C-4299-9A1A-5CB0FA5D1818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8382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 algn="l">
              <a:defRPr sz="1725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控制、采集、显示、通信、提示与执行模块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28750" y="1857375"/>
            <a:ext cx="1714500" cy="12858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53B7996-18C2-4E43-A589-10DF9347B2FE}"/>
              </a:ext>
            </a:extLst>
          </p:cNvPr>
          <p:cNvSpPr>
            <a:spLocks noGrp="1"/>
          </p:cNvSpPr>
          <p:nvPr/>
        </p:nvSpPr>
        <p:spPr>
          <a:xfrm>
            <a:off x="1000125" y="321945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16" lnSpcReduction="20000"/>
          </a:bodyPr>
          <a:lstStyle/>
          <a:p>
            <a:pPr algn="ctr">
              <a:defRPr sz="1575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Arduino Uno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4D3DC2-83B9-4041-B242-7B20C5F030F8}"/>
              </a:ext>
            </a:extLst>
          </p:cNvPr>
          <p:cNvSpPr>
            <a:spLocks noGrp="1"/>
          </p:cNvSpPr>
          <p:nvPr/>
        </p:nvSpPr>
        <p:spPr>
          <a:xfrm>
            <a:off x="1000125" y="35147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 algn="ctr">
              <a:defRPr sz="127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主控制器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44089" y="1857375"/>
            <a:ext cx="1713322" cy="128587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2007539-1803-41CF-A77E-0BFA7B528569}"/>
              </a:ext>
            </a:extLst>
          </p:cNvPr>
          <p:cNvSpPr>
            <a:spLocks noGrp="1"/>
          </p:cNvSpPr>
          <p:nvPr/>
        </p:nvSpPr>
        <p:spPr>
          <a:xfrm>
            <a:off x="4714875" y="321945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16" lnSpcReduction="20000"/>
          </a:bodyPr>
          <a:lstStyle/>
          <a:p>
            <a:pPr algn="ctr">
              <a:defRPr sz="1575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DHT22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801EDA-AFAA-4D8A-9109-1CA19B2089BC}"/>
              </a:ext>
            </a:extLst>
          </p:cNvPr>
          <p:cNvSpPr>
            <a:spLocks noGrp="1"/>
          </p:cNvSpPr>
          <p:nvPr/>
        </p:nvSpPr>
        <p:spPr>
          <a:xfrm>
            <a:off x="4714875" y="35147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 algn="ctr">
              <a:defRPr sz="127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温湿度采集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858839" y="1857375"/>
            <a:ext cx="1713322" cy="128587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69094F3-80FB-4DCB-912D-FA074667C0D8}"/>
              </a:ext>
            </a:extLst>
          </p:cNvPr>
          <p:cNvSpPr>
            <a:spLocks noGrp="1"/>
          </p:cNvSpPr>
          <p:nvPr/>
        </p:nvSpPr>
        <p:spPr>
          <a:xfrm>
            <a:off x="8429625" y="321945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16" lnSpcReduction="20000"/>
          </a:bodyPr>
          <a:lstStyle/>
          <a:p>
            <a:pPr algn="ctr">
              <a:defRPr sz="1575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SSD1306 OLED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A36030-B4B1-494F-BECE-5F3769576E31}"/>
              </a:ext>
            </a:extLst>
          </p:cNvPr>
          <p:cNvSpPr>
            <a:spLocks noGrp="1"/>
          </p:cNvSpPr>
          <p:nvPr/>
        </p:nvSpPr>
        <p:spPr>
          <a:xfrm>
            <a:off x="8429625" y="35147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 algn="ctr">
              <a:defRPr sz="127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本地显示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643063" y="4048125"/>
            <a:ext cx="1285875" cy="128587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B274864D-2094-4929-BE5D-47457D0FC0E2}"/>
              </a:ext>
            </a:extLst>
          </p:cNvPr>
          <p:cNvSpPr>
            <a:spLocks noGrp="1"/>
          </p:cNvSpPr>
          <p:nvPr/>
        </p:nvSpPr>
        <p:spPr>
          <a:xfrm>
            <a:off x="1000125" y="54102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16" lnSpcReduction="20000"/>
          </a:bodyPr>
          <a:lstStyle/>
          <a:p>
            <a:pPr algn="ctr">
              <a:defRPr sz="1575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HC-06 蓝牙模块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CFC26C-7C0C-401D-92BA-580E7BBAD414}"/>
              </a:ext>
            </a:extLst>
          </p:cNvPr>
          <p:cNvSpPr>
            <a:spLocks noGrp="1"/>
          </p:cNvSpPr>
          <p:nvPr/>
        </p:nvSpPr>
        <p:spPr>
          <a:xfrm>
            <a:off x="1000125" y="570547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 algn="ctr">
              <a:defRPr sz="127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串口通信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144089" y="4048125"/>
            <a:ext cx="1713322" cy="128587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941C6AA7-C2A1-4DA9-B463-D8EDBD9A43A8}"/>
              </a:ext>
            </a:extLst>
          </p:cNvPr>
          <p:cNvSpPr>
            <a:spLocks noGrp="1"/>
          </p:cNvSpPr>
          <p:nvPr/>
        </p:nvSpPr>
        <p:spPr>
          <a:xfrm>
            <a:off x="4714875" y="54102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16" lnSpcReduction="20000"/>
          </a:bodyPr>
          <a:lstStyle/>
          <a:p>
            <a:pPr algn="ctr">
              <a:defRPr sz="1575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蜂鸣器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DFAB60-1F95-470C-B98E-106219A57BB1}"/>
              </a:ext>
            </a:extLst>
          </p:cNvPr>
          <p:cNvSpPr>
            <a:spLocks noGrp="1"/>
          </p:cNvSpPr>
          <p:nvPr/>
        </p:nvSpPr>
        <p:spPr>
          <a:xfrm>
            <a:off x="4714875" y="570547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 algn="ctr">
              <a:defRPr sz="127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声响提示</a:t>
            </a: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858839" y="4048125"/>
            <a:ext cx="1713322" cy="128587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4419E37E-087B-475B-A535-DBDD3C03D831}"/>
              </a:ext>
            </a:extLst>
          </p:cNvPr>
          <p:cNvSpPr>
            <a:spLocks noGrp="1"/>
          </p:cNvSpPr>
          <p:nvPr/>
        </p:nvSpPr>
        <p:spPr>
          <a:xfrm>
            <a:off x="8429625" y="54102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16" lnSpcReduction="20000"/>
          </a:bodyPr>
          <a:lstStyle/>
          <a:p>
            <a:pPr algn="ctr">
              <a:defRPr sz="1575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5V 小风扇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C29CCF-0E5B-4518-826B-FCC31946C491}"/>
              </a:ext>
            </a:extLst>
          </p:cNvPr>
          <p:cNvSpPr>
            <a:spLocks noGrp="1"/>
          </p:cNvSpPr>
          <p:nvPr/>
        </p:nvSpPr>
        <p:spPr>
          <a:xfrm>
            <a:off x="8429625" y="570547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 algn="ctr">
              <a:defRPr sz="127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通风执行</a:t>
            </a:r>
          </a:p>
        </p:txBody>
      </p:sp>
    </p:spTree>
    <p:extLst>
      <p:ext uri="{BB962C8B-B14F-4D97-AF65-F5344CB8AC3E}">
        <p14:creationId xmlns:p14="http://schemas.microsoft.com/office/powerpoint/2010/main" val="506330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E16E959-3F93-4AB1-9857-D8DD15BFCA9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软件工作流程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420AFBF1-1073-437E-8E20-977D94A5816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E86F5B-6E3E-4EAB-8311-6C115531FBA9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06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98031" y="1333500"/>
            <a:ext cx="5595938" cy="4476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D64123E-52B8-4F2F-B41B-759F6882A785}"/>
              </a:ext>
            </a:extLst>
          </p:cNvPr>
          <p:cNvSpPr>
            <a:spLocks noGrp="1"/>
          </p:cNvSpPr>
          <p:nvPr/>
        </p:nvSpPr>
        <p:spPr>
          <a:xfrm>
            <a:off x="762000" y="5664200"/>
            <a:ext cx="10820400" cy="9906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 algn="l">
              <a:defRPr sz="150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温度阈值分时（上午 </a:t>
            </a:r>
            <a:r>
              <a:rPr lang="en-US" altLang="zh-CN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25/30</a:t>
            </a:r>
            <a:r>
              <a:rPr lang="zh-CN" altLang="en-US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、下午 </a:t>
            </a:r>
            <a:r>
              <a:rPr lang="en-US" altLang="zh-CN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23/28</a:t>
            </a:r>
            <a:r>
              <a:rPr lang="zh-CN" altLang="en-US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、夜间 </a:t>
            </a:r>
            <a:r>
              <a:rPr lang="en-US" altLang="zh-CN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12/15 ℃</a:t>
            </a:r>
            <a:r>
              <a:rPr lang="zh-CN" altLang="en-US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，依据为变温管理）；湿度全天 </a:t>
            </a:r>
            <a:r>
              <a:rPr lang="en-US" altLang="zh-CN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70/80 %RH </a:t>
            </a:r>
            <a:r>
              <a:rPr lang="zh-CN" altLang="en-US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不分时：灰霉病孢子萌发需叶面自由水，结露多在夜间降温阶段，夜间更不应放宽</a:t>
            </a:r>
            <a:r>
              <a:rPr lang="en-US" altLang="zh-CN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[12][13]</a:t>
            </a:r>
            <a:r>
              <a:rPr lang="zh-CN" altLang="en-US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algn="l">
              <a:defRPr sz="150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退出报警采用温度 </a:t>
            </a:r>
            <a:r>
              <a:rPr lang="en-US" altLang="zh-CN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1 ℃</a:t>
            </a:r>
            <a:r>
              <a:rPr lang="zh-CN" altLang="en-US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、湿度 </a:t>
            </a:r>
            <a:r>
              <a:rPr lang="en-US" altLang="zh-CN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5 %RH </a:t>
            </a:r>
            <a:r>
              <a:rPr lang="zh-CN" altLang="en-US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回差；复位后未校时使用默认 </a:t>
            </a:r>
            <a:r>
              <a:rPr lang="en-US" altLang="zh-CN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28/30 ℃</a:t>
            </a:r>
            <a:r>
              <a:rPr lang="zh-CN" altLang="en-US" sz="12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。</a:t>
            </a:r>
            <a:endParaRPr sz="1250" b="0">
              <a:solidFill>
                <a:srgbClr val="6874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021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96936F3-13C1-4546-BBF4-A5058CC83FB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报警与风扇控制逻辑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74CD5432-4259-424D-8E19-8CCB64B53E4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0CA164-BB72-4A7F-9097-9C3BB69CEFAC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07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AF9D1E3-0CE6-4CA3-823A-087551A2B33E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28575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40E2C4-B854-420F-84EA-9FBBDE4B85F4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66675" cy="2190750"/>
          </a:xfrm>
          <a:prstGeom prst="rect">
            <a:avLst/>
          </a:prstGeom>
          <a:solidFill>
            <a:srgbClr val="2F7A63"/>
          </a:solidFill>
          <a:ln w="0">
            <a:solidFill>
              <a:srgbClr val="2F7A6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ADEA5E-83C6-4B5D-8BB9-B8C615DE9574}"/>
              </a:ext>
            </a:extLst>
          </p:cNvPr>
          <p:cNvSpPr>
            <a:spLocks noGrp="1"/>
          </p:cNvSpPr>
          <p:nvPr/>
        </p:nvSpPr>
        <p:spPr>
          <a:xfrm>
            <a:off x="1104900" y="2286000"/>
            <a:ext cx="24955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73" lnSpcReduction="20000"/>
          </a:bodyPr>
          <a:lstStyle/>
          <a:p>
            <a:pPr algn="l">
              <a:defRPr sz="16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53AA1D-B47D-4BEF-A055-B2C69C10E221}"/>
              </a:ext>
            </a:extLst>
          </p:cNvPr>
          <p:cNvSpPr>
            <a:spLocks noGrp="1"/>
          </p:cNvSpPr>
          <p:nvPr/>
        </p:nvSpPr>
        <p:spPr>
          <a:xfrm>
            <a:off x="1104900" y="2647950"/>
            <a:ext cx="2457450" cy="152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未达到预警阈值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LED、蜂鸣器关闭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AUTO 模式下风扇关闭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DE22294-0202-4A2D-8259-8B7F9A2F8513}"/>
              </a:ext>
            </a:extLst>
          </p:cNvPr>
          <p:cNvSpPr>
            <a:spLocks noGrp="1"/>
          </p:cNvSpPr>
          <p:nvPr/>
        </p:nvSpPr>
        <p:spPr>
          <a:xfrm>
            <a:off x="4667250" y="2114550"/>
            <a:ext cx="28575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2FC0F4-78FC-4D07-81F0-C4FA052A1294}"/>
              </a:ext>
            </a:extLst>
          </p:cNvPr>
          <p:cNvSpPr>
            <a:spLocks noGrp="1"/>
          </p:cNvSpPr>
          <p:nvPr/>
        </p:nvSpPr>
        <p:spPr>
          <a:xfrm>
            <a:off x="4667250" y="2114550"/>
            <a:ext cx="66675" cy="2190750"/>
          </a:xfrm>
          <a:prstGeom prst="rect">
            <a:avLst/>
          </a:prstGeom>
          <a:solidFill>
            <a:srgbClr val="D9902F"/>
          </a:solidFill>
          <a:ln w="0">
            <a:solidFill>
              <a:srgbClr val="D9902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FABC71-D3E1-4826-A959-B91CAEDAB6FE}"/>
              </a:ext>
            </a:extLst>
          </p:cNvPr>
          <p:cNvSpPr>
            <a:spLocks noGrp="1"/>
          </p:cNvSpPr>
          <p:nvPr/>
        </p:nvSpPr>
        <p:spPr>
          <a:xfrm>
            <a:off x="4895850" y="2286000"/>
            <a:ext cx="24955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73" lnSpcReduction="20000"/>
          </a:bodyPr>
          <a:lstStyle/>
          <a:p>
            <a:pPr algn="l">
              <a:defRPr sz="16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WARNING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9BAD47-6E8D-472F-B1B0-1578160FCF31}"/>
              </a:ext>
            </a:extLst>
          </p:cNvPr>
          <p:cNvSpPr>
            <a:spLocks noGrp="1"/>
          </p:cNvSpPr>
          <p:nvPr/>
        </p:nvSpPr>
        <p:spPr>
          <a:xfrm>
            <a:off x="4895850" y="2647950"/>
            <a:ext cx="2457450" cy="152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温度≥当前时段预警值 或 湿度≥</a:t>
            </a:r>
            <a:r>
              <a:rPr lang="en-US" altLang="zh-CN"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70 %RH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LED </a:t>
            </a:r>
            <a:r>
              <a:rPr lang="zh-CN" altLang="en-US"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闪烁、蜂鸣器间歇响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AUTO </a:t>
            </a:r>
            <a:r>
              <a:rPr lang="zh-CN" altLang="en-US"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模式下风扇运行</a:t>
            </a:r>
            <a:endParaRPr sz="1350" b="0">
              <a:solidFill>
                <a:srgbClr val="6874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66A904A-9153-4E5B-8BF0-510EC874A0EE}"/>
              </a:ext>
            </a:extLst>
          </p:cNvPr>
          <p:cNvSpPr>
            <a:spLocks noGrp="1"/>
          </p:cNvSpPr>
          <p:nvPr/>
        </p:nvSpPr>
        <p:spPr>
          <a:xfrm>
            <a:off x="8458200" y="2114550"/>
            <a:ext cx="28575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9EBC5D-CB47-4856-A55A-FAC9D22273FD}"/>
              </a:ext>
            </a:extLst>
          </p:cNvPr>
          <p:cNvSpPr>
            <a:spLocks noGrp="1"/>
          </p:cNvSpPr>
          <p:nvPr/>
        </p:nvSpPr>
        <p:spPr>
          <a:xfrm>
            <a:off x="8458200" y="2114550"/>
            <a:ext cx="66675" cy="2190750"/>
          </a:xfrm>
          <a:prstGeom prst="rect">
            <a:avLst/>
          </a:prstGeom>
          <a:solidFill>
            <a:srgbClr val="B8413B"/>
          </a:solidFill>
          <a:ln w="0">
            <a:solidFill>
              <a:srgbClr val="B8413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7BD29C-509A-4C24-8CFE-6F2BC90BA58B}"/>
              </a:ext>
            </a:extLst>
          </p:cNvPr>
          <p:cNvSpPr>
            <a:spLocks noGrp="1"/>
          </p:cNvSpPr>
          <p:nvPr/>
        </p:nvSpPr>
        <p:spPr>
          <a:xfrm>
            <a:off x="8686800" y="2286000"/>
            <a:ext cx="24955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73" lnSpcReduction="20000"/>
          </a:bodyPr>
          <a:lstStyle/>
          <a:p>
            <a:pPr algn="l">
              <a:defRPr sz="16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CRITICAL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8705F9-E805-4382-B862-57DD0262059E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457450" cy="152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温度≥当前时段严重值 或 湿度≥</a:t>
            </a:r>
            <a:r>
              <a:rPr lang="en-US" altLang="zh-CN"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80 %RH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LED </a:t>
            </a:r>
            <a:r>
              <a:rPr lang="zh-CN" altLang="en-US"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常亮、蜂鸣器持续响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安全逻辑强制风扇运行</a:t>
            </a:r>
            <a:endParaRPr sz="1350" b="0">
              <a:solidFill>
                <a:srgbClr val="6874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77CD32-74C1-4009-BB30-FE1DFEDAAC1F}"/>
              </a:ext>
            </a:extLst>
          </p:cNvPr>
          <p:cNvSpPr>
            <a:spLocks noGrp="1"/>
          </p:cNvSpPr>
          <p:nvPr/>
        </p:nvSpPr>
        <p:spPr>
          <a:xfrm>
            <a:off x="876300" y="5238750"/>
            <a:ext cx="9906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FAN OFF 不得绕过严重报警或传感器失效时的安全风扇逻辑。ALARM OFF / OK 只静音蜂鸣器。</a:t>
            </a:r>
          </a:p>
        </p:txBody>
      </p:sp>
    </p:spTree>
    <p:extLst>
      <p:ext uri="{BB962C8B-B14F-4D97-AF65-F5344CB8AC3E}">
        <p14:creationId xmlns:p14="http://schemas.microsoft.com/office/powerpoint/2010/main" val="548198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43D13DF-8A9F-4647-A221-701BAC49813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DHT22 调试与问题定位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7C8F5F64-644B-4E55-8FB2-6336BD6EAFD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EB3EEA-A111-481D-A8B2-A2A12981625F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08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D88C2C-7331-4750-A8A8-48DF7C341104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81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用对照实验区分程序问题与硬件通道问题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85800" y="2095500"/>
          <a:ext cx="10763250" cy="3095628"/>
        </p:xfrm>
        <a:graphic>
          <a:graphicData uri="http://schemas.openxmlformats.org/drawingml/2006/table">
            <a:tbl>
              <a:tblPr firstRow="1" bandRow="1"/>
              <a:tblGrid>
                <a:gridCol w="538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排查步骤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证据与结论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现象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原 Uno 上 DHT22 输出异常温湿度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排除主程序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独立诊断草图不启用 OLED、蓝牙、风扇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排除单一库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两套独立 DHT 库读取结论一致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原始帧验证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输出 5 字节原始帧并通过校验和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最终对照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更换 Uno 后 DHT22 恢复正常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00787DB-5F8B-46A1-8287-2B1E722D1D50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B841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13B"/>
                </a:solidFill>
                <a:latin typeface="Arial"/>
                <a:ea typeface="Arial"/>
                <a:cs typeface="Arial"/>
              </a:rPr>
              <a:t>定位结果：问题集中在原 Uno 的 D2 数据通道或其周边电气状态，当前使用新板继续实测。</a:t>
            </a:r>
          </a:p>
        </p:txBody>
      </p:sp>
    </p:spTree>
    <p:extLst>
      <p:ext uri="{BB962C8B-B14F-4D97-AF65-F5344CB8AC3E}">
        <p14:creationId xmlns:p14="http://schemas.microsoft.com/office/powerpoint/2010/main" val="2120459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2C06F17-B563-4DED-BB97-AB8AB49AFF0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教室布点与数据记录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759348C0-0134-4D76-AB28-2CC2F11ECFD6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0562C0-A275-4950-A8D0-3E46EA89AC94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09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1E90BD-0A4D-418F-8CD1-69C1D4112FB8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33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测试空间：长 9.6 m，宽 6.6 m，高 3.4 m</a:t>
            </a:r>
          </a:p>
        </p:txBody>
      </p:sp>
      <p:graphicFrame>
        <p:nvGraphicFramePr>
          <p:cNvPr id="14" name="表格 13"/>
          <p:cNvGraphicFramePr/>
          <p:nvPr>
            <p:extLst>
              <p:ext uri="{D42A27DB-BD31-4B8C-83A1-F6EECF244321}">
                <p14:modId xmlns:p14="http://schemas.microsoft.com/office/powerpoint/2010/main" val="2472991045"/>
              </p:ext>
            </p:extLst>
          </p:nvPr>
        </p:nvGraphicFramePr>
        <p:xfrm>
          <a:off x="685800" y="2095500"/>
          <a:ext cx="10763252" cy="2476500"/>
        </p:xfrm>
        <a:graphic>
          <a:graphicData uri="http://schemas.openxmlformats.org/drawingml/2006/table">
            <a:tbl>
              <a:tblPr firstRow="1" bandRow="1"/>
              <a:tblGrid>
                <a:gridCol w="2690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0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0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实验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样本量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记录内容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结果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准确性对比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30 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DHT22 与 SHT40 同位置对比，三种工况各 10 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完成统计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三点布点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15 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门口、中间、末尾各 5 条温湿度记录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完成统计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功能验证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7 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正常、预警、严重、静音 </a:t>
                      </a:r>
                      <a:r>
                        <a:rPr lang="en-US" altLang="zh-CN"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lang="zh-CN" altLang="en-US"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项实机验证；回差、安全覆盖、失效为逻辑测试</a:t>
                      </a:r>
                      <a:endParaRPr sz="1200">
                        <a:solidFill>
                          <a:srgbClr val="1626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lang="zh-CN" altLang="en-US" sz="120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项实测通过</a:t>
                      </a:r>
                      <a:endParaRPr sz="1200">
                        <a:solidFill>
                          <a:srgbClr val="1626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B4A1191-94D3-4B22-88FC-432EF1756C39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三点均值：门口 27.80 ℃ / 61.06 %RH；中间 26.08 ℃ / 66.04 %RH；末尾 26.44 ℃ / 64.18 %RH。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E9D2BE-56A2-4439-B605-81C4C990C9D2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l">
              <a:defRPr sz="135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最大差值：温度 1.72 ℃，湿度 5.00 %RH；15 条有效记录均纳入统计。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18015A-955A-4F03-A71B-2B1059B4C200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l">
              <a:defRPr sz="1125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布点建议：≤200㎡设3点；200–500㎡设6点（2行×3区）；&gt;500㎡按每增加约100㎡或8–10m分区增设1点。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D39392-9D13-4744-A67B-FF4307647C16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58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l">
              <a:defRPr sz="112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示例：6×30m=180㎡→3点；8×50m=400㎡→6点；10×60m=600㎡→9点。</a:t>
            </a:r>
          </a:p>
        </p:txBody>
      </p:sp>
    </p:spTree>
    <p:extLst>
      <p:ext uri="{BB962C8B-B14F-4D97-AF65-F5344CB8AC3E}">
        <p14:creationId xmlns:p14="http://schemas.microsoft.com/office/powerpoint/2010/main" val="1999851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4E84A3E-AD9E-4272-87E6-5B0F01BC0C0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温湿度对比数据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3960A6B0-BB6D-4926-B29A-154BC3CB3C7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DE5D8B-B019-4A3A-A438-4C852D79A079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10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27250" y="1381125"/>
            <a:ext cx="7937500" cy="4762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E05FD77-1024-46F1-B490-635B1246CDDE}"/>
              </a:ext>
            </a:extLst>
          </p:cNvPr>
          <p:cNvSpPr>
            <a:spLocks noGrp="1"/>
          </p:cNvSpPr>
          <p:nvPr/>
        </p:nvSpPr>
        <p:spPr>
          <a:xfrm>
            <a:off x="1428750" y="6191250"/>
            <a:ext cx="9048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892" lnSpcReduction="10000"/>
          </a:bodyPr>
          <a:lstStyle/>
          <a:p>
            <a:pPr algn="ctr">
              <a:defRPr sz="127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样本 1-10：常温常湿；11-20：较温暖；21-30：较潮湿。</a:t>
            </a:r>
          </a:p>
        </p:txBody>
      </p:sp>
    </p:spTree>
    <p:extLst>
      <p:ext uri="{BB962C8B-B14F-4D97-AF65-F5344CB8AC3E}">
        <p14:creationId xmlns:p14="http://schemas.microsoft.com/office/powerpoint/2010/main" val="1767577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38F4BCA-3F41-4D09-9F74-4C27029E9FE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蓝牙串口交互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B6F1122B-4241-455F-A44D-ACEB01EACD29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19A1F8-56A2-471B-A9F9-9F6FE0E916DF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11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FAFB0B-7BFD-4069-B534-6BA199507763}"/>
              </a:ext>
            </a:extLst>
          </p:cNvPr>
          <p:cNvSpPr>
            <a:spLocks noGrp="1"/>
          </p:cNvSpPr>
          <p:nvPr/>
        </p:nvSpPr>
        <p:spPr>
          <a:xfrm>
            <a:off x="685800" y="1308100"/>
            <a:ext cx="10033000" cy="5588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 algn="l">
              <a:defRPr sz="1875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蓝牙模块使用 </a:t>
            </a:r>
            <a:r>
              <a:rPr lang="en-US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Uno </a:t>
            </a:r>
            <a:r>
              <a:rPr lang="zh-CN" altLang="en-US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硬件串口，波特率 </a:t>
            </a: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9600</a:t>
            </a:r>
            <a:r>
              <a:rPr lang="zh-CN" altLang="en-US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，命令以换行符结束。</a:t>
            </a:r>
          </a:p>
          <a:p>
            <a:pPr algn="l">
              <a:defRPr sz="1875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校时 </a:t>
            </a:r>
            <a:r>
              <a:rPr lang="en-US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TIME HH:MM[:SS]；</a:t>
            </a:r>
            <a:r>
              <a:rPr lang="zh-CN" altLang="en-US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阈值 </a:t>
            </a:r>
            <a:r>
              <a:rPr lang="en-US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SET DAY/PM/NIGHT W C、SET HUM W C。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3398677151"/>
              </p:ext>
            </p:extLst>
          </p:nvPr>
        </p:nvGraphicFramePr>
        <p:xfrm>
          <a:off x="1524000" y="2095500"/>
          <a:ext cx="9144000" cy="2952747"/>
        </p:xfrm>
        <a:graphic>
          <a:graphicData uri="http://schemas.openxmlformats.org/drawingml/2006/table">
            <a:tbl>
              <a:tblPr firstRow="1" bandRow="1"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命令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功能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返回温湿度、报警来源、蜂鸣器和风扇状态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PAGE 0 / 1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切换 OLED 显示页面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FAN AUTO / ON /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选择自动、强制开或强制关模式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ALARM OFF /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蜂鸣器静音，不停止 LED 与风扇安全逻辑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ALARM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恢复蜂鸣器声音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275" b="0">
                          <a:solidFill>
                            <a:srgbClr val="16261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</a:rPr>
                        <a:t>TIME HH:MM[:SS]</a:t>
                      </a:r>
                      <a:endParaRPr sz="1275" b="0">
                        <a:solidFill>
                          <a:srgbClr val="16261F"/>
                        </a:solidFill>
                        <a:latin typeface="Arial" panose="020B0604020202020204" pitchFamily="34" charset="0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75" b="0">
                          <a:solidFill>
                            <a:srgbClr val="16261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</a:rPr>
                        <a:t>校正时钟，决定当前生效的时段</a:t>
                      </a:r>
                      <a:endParaRPr sz="1275" b="0">
                        <a:solidFill>
                          <a:srgbClr val="16261F"/>
                        </a:solidFill>
                        <a:latin typeface="Arial" panose="020B0604020202020204" pitchFamily="34" charset="0"/>
                        <a:ea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34911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275" b="0">
                          <a:solidFill>
                            <a:srgbClr val="16261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</a:rPr>
                        <a:t>SET DAY/PM/NIGHT W C</a:t>
                      </a:r>
                      <a:endParaRPr sz="1275" b="0">
                        <a:solidFill>
                          <a:srgbClr val="16261F"/>
                        </a:solidFill>
                        <a:latin typeface="Arial" panose="020B0604020202020204" pitchFamily="34" charset="0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75" b="0">
                          <a:solidFill>
                            <a:srgbClr val="16261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</a:rPr>
                        <a:t>设置各时段温度阈值（预警</a:t>
                      </a:r>
                      <a:r>
                        <a:rPr lang="en-US" altLang="zh-CN" sz="1275" b="0">
                          <a:solidFill>
                            <a:srgbClr val="16261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</a:rPr>
                        <a:t>/</a:t>
                      </a:r>
                      <a:r>
                        <a:rPr lang="zh-CN" altLang="en-US" sz="1275" b="0">
                          <a:solidFill>
                            <a:srgbClr val="16261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</a:rPr>
                        <a:t>严重）</a:t>
                      </a:r>
                      <a:endParaRPr sz="1275" b="0">
                        <a:solidFill>
                          <a:srgbClr val="16261F"/>
                        </a:solidFill>
                        <a:latin typeface="Arial" panose="020B0604020202020204" pitchFamily="34" charset="0"/>
                        <a:ea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18036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275" b="0">
                          <a:solidFill>
                            <a:srgbClr val="16261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</a:rPr>
                        <a:t>SET HUM W C</a:t>
                      </a:r>
                      <a:endParaRPr sz="1275" b="0">
                        <a:solidFill>
                          <a:srgbClr val="16261F"/>
                        </a:solidFill>
                        <a:latin typeface="Arial" panose="020B0604020202020204" pitchFamily="34" charset="0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75" b="0">
                          <a:solidFill>
                            <a:srgbClr val="16261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</a:rPr>
                        <a:t>设置全天湿度阈值（预警</a:t>
                      </a:r>
                      <a:r>
                        <a:rPr lang="en-US" altLang="zh-CN" sz="1275" b="0">
                          <a:solidFill>
                            <a:srgbClr val="16261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</a:rPr>
                        <a:t>/</a:t>
                      </a:r>
                      <a:r>
                        <a:rPr lang="zh-CN" altLang="en-US" sz="1275" b="0">
                          <a:solidFill>
                            <a:srgbClr val="16261F"/>
                          </a:solidFill>
                          <a:latin typeface="Arial" panose="020B0604020202020204" pitchFamily="34" charset="0"/>
                          <a:ea typeface="Arial"/>
                          <a:cs typeface="Arial"/>
                        </a:rPr>
                        <a:t>严重）</a:t>
                      </a:r>
                      <a:endParaRPr sz="1275" b="0">
                        <a:solidFill>
                          <a:srgbClr val="16261F"/>
                        </a:solidFill>
                        <a:latin typeface="Arial" panose="020B0604020202020204" pitchFamily="34" charset="0"/>
                        <a:ea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9047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HELP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返回命令帮助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ExampleBox">
            <a:extLst>
              <a:ext uri="{FF2B5EF4-FFF2-40B4-BE49-F238E27FC236}">
                <a16:creationId xmlns:a16="http://schemas.microsoft.com/office/drawing/2014/main" id="{6A5DD939-D14A-1E93-F9ED-4F7ED3351392}"/>
              </a:ext>
            </a:extLst>
          </p:cNvPr>
          <p:cNvSpPr txBox="1"/>
          <p:nvPr/>
        </p:nvSpPr>
        <p:spPr>
          <a:xfrm>
            <a:off x="685800" y="5080000"/>
            <a:ext cx="10820400" cy="507831"/>
          </a:xfrm>
          <a:prstGeom prst="rect">
            <a:avLst/>
          </a:prstGeom>
          <a:noFill/>
          <a:ln>
            <a:solidFill>
              <a:srgbClr val="D0D8C9"/>
            </a:solidFill>
          </a:ln>
        </p:spPr>
        <p:txBody>
          <a:bodyPr vert="horz" wrap="square" rtlCol="0">
            <a:spAutoFit/>
          </a:bodyPr>
          <a:lstStyle/>
          <a:p>
            <a:r>
              <a:rPr lang="zh-CN" altLang="en-US" sz="1350">
                <a:solidFill>
                  <a:srgbClr val="68746E"/>
                </a:solidFill>
                <a:latin typeface="Arial" panose="020B0604020202020204" pitchFamily="34" charset="0"/>
              </a:rPr>
              <a:t>示例：</a:t>
            </a:r>
            <a:r>
              <a:rPr lang="en-US" altLang="zh-CN" sz="1350">
                <a:solidFill>
                  <a:srgbClr val="68746E"/>
                </a:solidFill>
                <a:latin typeface="Arial" panose="020B0604020202020204" pitchFamily="34" charset="0"/>
              </a:rPr>
              <a:t>TIME 08:00 </a:t>
            </a:r>
            <a:r>
              <a:rPr lang="zh-CN" altLang="en-US" sz="1350">
                <a:solidFill>
                  <a:srgbClr val="68746E"/>
                </a:solidFill>
                <a:latin typeface="Arial" panose="020B0604020202020204" pitchFamily="34" charset="0"/>
              </a:rPr>
              <a:t>校时后时段为上午（</a:t>
            </a:r>
            <a:r>
              <a:rPr lang="en-US" altLang="zh-CN" sz="1350">
                <a:solidFill>
                  <a:srgbClr val="68746E"/>
                </a:solidFill>
                <a:latin typeface="Arial" panose="020B0604020202020204" pitchFamily="34" charset="0"/>
              </a:rPr>
              <a:t>DAY</a:t>
            </a:r>
            <a:r>
              <a:rPr lang="zh-CN" altLang="en-US" sz="1350">
                <a:solidFill>
                  <a:srgbClr val="68746E"/>
                </a:solidFill>
                <a:latin typeface="Arial" panose="020B0604020202020204" pitchFamily="34" charset="0"/>
              </a:rPr>
              <a:t>）；</a:t>
            </a:r>
            <a:r>
              <a:rPr lang="en-US" altLang="zh-CN" sz="1350">
                <a:solidFill>
                  <a:srgbClr val="68746E"/>
                </a:solidFill>
                <a:latin typeface="Arial" panose="020B0604020202020204" pitchFamily="34" charset="0"/>
              </a:rPr>
              <a:t>SET DAY 26 31 </a:t>
            </a:r>
            <a:r>
              <a:rPr lang="zh-CN" altLang="en-US" sz="1350">
                <a:solidFill>
                  <a:srgbClr val="68746E"/>
                </a:solidFill>
                <a:latin typeface="Arial" panose="020B0604020202020204" pitchFamily="34" charset="0"/>
              </a:rPr>
              <a:t>把上午改为 </a:t>
            </a:r>
            <a:r>
              <a:rPr lang="en-US" altLang="zh-CN" sz="1350">
                <a:solidFill>
                  <a:srgbClr val="68746E"/>
                </a:solidFill>
                <a:latin typeface="Arial" panose="020B0604020202020204" pitchFamily="34" charset="0"/>
              </a:rPr>
              <a:t>26/31 ℃</a:t>
            </a:r>
            <a:r>
              <a:rPr lang="zh-CN" altLang="en-US" sz="1350">
                <a:solidFill>
                  <a:srgbClr val="68746E"/>
                </a:solidFill>
                <a:latin typeface="Arial" panose="020B0604020202020204" pitchFamily="34" charset="0"/>
              </a:rPr>
              <a:t>；</a:t>
            </a:r>
            <a:r>
              <a:rPr lang="en-US" altLang="zh-CN" sz="1350">
                <a:solidFill>
                  <a:srgbClr val="68746E"/>
                </a:solidFill>
                <a:latin typeface="Arial" panose="020B0604020202020204" pitchFamily="34" charset="0"/>
              </a:rPr>
              <a:t>SET HUM 75 85 </a:t>
            </a:r>
            <a:r>
              <a:rPr lang="zh-CN" altLang="en-US" sz="1350">
                <a:solidFill>
                  <a:srgbClr val="68746E"/>
                </a:solidFill>
                <a:latin typeface="Arial" panose="020B0604020202020204" pitchFamily="34" charset="0"/>
              </a:rPr>
              <a:t>把湿度改为 </a:t>
            </a:r>
            <a:r>
              <a:rPr lang="en-US" altLang="zh-CN" sz="1350">
                <a:solidFill>
                  <a:srgbClr val="68746E"/>
                </a:solidFill>
                <a:latin typeface="Arial" panose="020B0604020202020204" pitchFamily="34" charset="0"/>
              </a:rPr>
              <a:t>75/85 %RH</a:t>
            </a:r>
            <a:r>
              <a:rPr lang="zh-CN" altLang="en-US" sz="1350">
                <a:solidFill>
                  <a:srgbClr val="68746E"/>
                </a:solidFill>
                <a:latin typeface="Arial" panose="020B0604020202020204" pitchFamily="34" charset="0"/>
              </a:rPr>
              <a:t>。</a:t>
            </a:r>
          </a:p>
          <a:p>
            <a:r>
              <a:rPr lang="zh-CN" altLang="en-US" sz="1350">
                <a:solidFill>
                  <a:srgbClr val="68746E"/>
                </a:solidFill>
                <a:latin typeface="Arial" panose="020B0604020202020204" pitchFamily="34" charset="0"/>
              </a:rPr>
              <a:t>参数前为预警值、后为严重值；不满足约束时返回 </a:t>
            </a:r>
            <a:r>
              <a:rPr lang="en-US" altLang="zh-CN" sz="1350">
                <a:solidFill>
                  <a:srgbClr val="68746E"/>
                </a:solidFill>
                <a:latin typeface="Arial" panose="020B0604020202020204" pitchFamily="34" charset="0"/>
              </a:rPr>
              <a:t>ERR </a:t>
            </a:r>
            <a:r>
              <a:rPr lang="zh-CN" altLang="en-US" sz="1350">
                <a:solidFill>
                  <a:srgbClr val="68746E"/>
                </a:solidFill>
                <a:latin typeface="Arial" panose="020B0604020202020204" pitchFamily="34" charset="0"/>
              </a:rPr>
              <a:t>并保持原值。</a:t>
            </a:r>
            <a:r>
              <a:rPr lang="en-US" altLang="zh-CN" sz="1350">
                <a:solidFill>
                  <a:srgbClr val="68746E"/>
                </a:solidFill>
                <a:latin typeface="Arial" panose="020B0604020202020204" pitchFamily="34" charset="0"/>
              </a:rPr>
              <a:t>[TIME][SET] </a:t>
            </a:r>
            <a:r>
              <a:rPr lang="zh-CN" altLang="en-US" sz="1350">
                <a:solidFill>
                  <a:srgbClr val="68746E"/>
                </a:solidFill>
                <a:latin typeface="Arial" panose="020B0604020202020204" pitchFamily="34" charset="0"/>
              </a:rPr>
              <a:t>需在复位后重新发送。</a:t>
            </a:r>
          </a:p>
        </p:txBody>
      </p:sp>
    </p:spTree>
    <p:extLst>
      <p:ext uri="{BB962C8B-B14F-4D97-AF65-F5344CB8AC3E}">
        <p14:creationId xmlns:p14="http://schemas.microsoft.com/office/powerpoint/2010/main" val="550837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D146A88-6670-44E6-8523-DBF90B28672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功能测试结果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C73E7EC8-AE71-4F8D-8B06-117A289F0B55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D07B60-16C2-4603-AB25-C6EA36CF1FCC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12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C3A339-1AFC-493F-98E1-00BAE114CDF8}"/>
              </a:ext>
            </a:extLst>
          </p:cNvPr>
          <p:cNvSpPr>
            <a:spLocks noGrp="1"/>
          </p:cNvSpPr>
          <p:nvPr/>
        </p:nvSpPr>
        <p:spPr>
          <a:xfrm>
            <a:off x="685800" y="1308100"/>
            <a:ext cx="10160000" cy="5588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 fontScale="94667" lnSpcReduction="10000"/>
          </a:bodyPr>
          <a:lstStyle/>
          <a:p>
            <a:pPr algn="l">
              <a:defRPr sz="1875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4 </a:t>
            </a:r>
            <a:r>
              <a:rPr lang="zh-CN" altLang="en-US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项现场实测通过；回差、安全覆盖、传感器失效 </a:t>
            </a: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3 </a:t>
            </a:r>
            <a:r>
              <a:rPr lang="zh-CN" altLang="en-US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项为宿主机逻辑测试，未现场验证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2530562955"/>
              </p:ext>
            </p:extLst>
          </p:nvPr>
        </p:nvGraphicFramePr>
        <p:xfrm>
          <a:off x="685800" y="1952625"/>
          <a:ext cx="10763252" cy="3190872"/>
        </p:xfrm>
        <a:graphic>
          <a:graphicData uri="http://schemas.openxmlformats.org/drawingml/2006/table">
            <a:tbl>
              <a:tblPr firstRow="1" bandRow="1"/>
              <a:tblGrid>
                <a:gridCol w="2690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0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0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85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编号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测试项目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实际结果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结论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8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正常范围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OLED、串口与自动风扇状态正常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8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预警状态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声光报警与风扇联动正常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85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严重报警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持续声光报警与风扇运行正常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回差退出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28→27→26 ℃：WARNING→WARNING→NORMAL</a:t>
                      </a:r>
                      <a:endParaRPr sz="1125">
                        <a:solidFill>
                          <a:srgbClr val="1626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25" b="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按代码逻辑，未现场验证</a:t>
                      </a:r>
                      <a:endParaRPr sz="1125" b="0">
                        <a:solidFill>
                          <a:srgbClr val="1626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安全覆盖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CRITICAL </a:t>
                      </a:r>
                      <a:r>
                        <a:rPr lang="zh-CN" altLang="en-US"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下 </a:t>
                      </a:r>
                      <a:r>
                        <a:rPr lang="en-US"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FAN OFF </a:t>
                      </a:r>
                      <a:r>
                        <a:rPr lang="zh-CN" altLang="en-US"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仍保持风扇开启</a:t>
                      </a:r>
                      <a:endParaRPr sz="1125">
                        <a:solidFill>
                          <a:srgbClr val="1626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25" b="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按代码逻辑，未现场验证</a:t>
                      </a:r>
                      <a:endParaRPr sz="1125" b="0">
                        <a:solidFill>
                          <a:srgbClr val="1626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报警静音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蜂鸣器静音，其他状态保持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通过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传感器失效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2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后断线风扇开；上电即断线风扇关</a:t>
                      </a:r>
                      <a:endParaRPr sz="1125">
                        <a:solidFill>
                          <a:srgbClr val="1626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25" b="0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按代码逻辑，未现场验证</a:t>
                      </a:r>
                      <a:endParaRPr sz="1125" b="0">
                        <a:solidFill>
                          <a:srgbClr val="16261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plitNote">
            <a:extLst>
              <a:ext uri="{FF2B5EF4-FFF2-40B4-BE49-F238E27FC236}">
                <a16:creationId xmlns:a16="http://schemas.microsoft.com/office/drawing/2014/main" id="{27FF6047-AF87-3A77-5F4D-915C6313B418}"/>
              </a:ext>
            </a:extLst>
          </p:cNvPr>
          <p:cNvSpPr txBox="1"/>
          <p:nvPr/>
        </p:nvSpPr>
        <p:spPr>
          <a:xfrm>
            <a:off x="685800" y="5334000"/>
            <a:ext cx="108204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68746E"/>
                </a:solidFill>
              </a:rPr>
              <a:t>分时功能：</a:t>
            </a:r>
            <a:r>
              <a:rPr lang="en-US" altLang="zh-CN" sz="1400">
                <a:solidFill>
                  <a:srgbClr val="68746E"/>
                </a:solidFill>
              </a:rPr>
              <a:t>TIME </a:t>
            </a:r>
            <a:r>
              <a:rPr lang="zh-CN" altLang="en-US" sz="1400">
                <a:solidFill>
                  <a:srgbClr val="68746E"/>
                </a:solidFill>
              </a:rPr>
              <a:t>跨 </a:t>
            </a:r>
            <a:r>
              <a:rPr lang="en-US" altLang="zh-CN" sz="1400">
                <a:solidFill>
                  <a:srgbClr val="68746E"/>
                </a:solidFill>
              </a:rPr>
              <a:t>06:00 / 12:00 / 18:00 </a:t>
            </a:r>
            <a:r>
              <a:rPr lang="zh-CN" altLang="en-US" sz="1400">
                <a:solidFill>
                  <a:srgbClr val="68746E"/>
                </a:solidFill>
              </a:rPr>
              <a:t>自动切换；</a:t>
            </a:r>
            <a:r>
              <a:rPr lang="en-US" altLang="zh-CN" sz="1400">
                <a:solidFill>
                  <a:srgbClr val="68746E"/>
                </a:solidFill>
              </a:rPr>
              <a:t>SET DAY/PM/NIGHT</a:t>
            </a:r>
            <a:r>
              <a:rPr lang="zh-CN" altLang="en-US" sz="1400">
                <a:solidFill>
                  <a:srgbClr val="68746E"/>
                </a:solidFill>
              </a:rPr>
              <a:t>、</a:t>
            </a:r>
            <a:r>
              <a:rPr lang="en-US" altLang="zh-CN" sz="1400">
                <a:solidFill>
                  <a:srgbClr val="68746E"/>
                </a:solidFill>
              </a:rPr>
              <a:t>SET HUM </a:t>
            </a:r>
            <a:r>
              <a:rPr lang="zh-CN" altLang="en-US" sz="1400">
                <a:solidFill>
                  <a:srgbClr val="68746E"/>
                </a:solidFill>
              </a:rPr>
              <a:t>后 </a:t>
            </a:r>
            <a:r>
              <a:rPr lang="en-US" altLang="zh-CN" sz="1400">
                <a:solidFill>
                  <a:srgbClr val="68746E"/>
                </a:solidFill>
              </a:rPr>
              <a:t>STATUS </a:t>
            </a:r>
            <a:r>
              <a:rPr lang="zh-CN" altLang="en-US" sz="1400">
                <a:solidFill>
                  <a:srgbClr val="68746E"/>
                </a:solidFill>
              </a:rPr>
              <a:t>与 </a:t>
            </a:r>
            <a:r>
              <a:rPr lang="en-US" altLang="zh-CN" sz="1400">
                <a:solidFill>
                  <a:srgbClr val="68746E"/>
                </a:solidFill>
              </a:rPr>
              <a:t>OLED </a:t>
            </a:r>
            <a:r>
              <a:rPr lang="zh-CN" altLang="en-US" sz="1400">
                <a:solidFill>
                  <a:srgbClr val="68746E"/>
                </a:solidFill>
              </a:rPr>
              <a:t>读回一致。</a:t>
            </a:r>
          </a:p>
          <a:p>
            <a:r>
              <a:rPr lang="zh-CN" altLang="en-US" sz="1400">
                <a:solidFill>
                  <a:srgbClr val="68746E"/>
                </a:solidFill>
              </a:rPr>
              <a:t>回差、安全覆盖、传感器失效 </a:t>
            </a:r>
            <a:r>
              <a:rPr lang="en-US" altLang="zh-CN" sz="1400">
                <a:solidFill>
                  <a:srgbClr val="68746E"/>
                </a:solidFill>
              </a:rPr>
              <a:t>3 </a:t>
            </a:r>
            <a:r>
              <a:rPr lang="zh-CN" altLang="en-US" sz="1400">
                <a:solidFill>
                  <a:srgbClr val="68746E"/>
                </a:solidFill>
              </a:rPr>
              <a:t>项为宿主机逻辑测试，未现场验证；分时阈值沿用同一套安全逻辑。</a:t>
            </a:r>
          </a:p>
        </p:txBody>
      </p:sp>
    </p:spTree>
    <p:extLst>
      <p:ext uri="{BB962C8B-B14F-4D97-AF65-F5344CB8AC3E}">
        <p14:creationId xmlns:p14="http://schemas.microsoft.com/office/powerpoint/2010/main" val="1163691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A907D26-BB12-C9D4-11D9-3FBB5AAB4BCF}"/>
              </a:ext>
            </a:extLst>
          </p:cNvPr>
          <p:cNvSpPr txBox="1"/>
          <p:nvPr/>
        </p:nvSpPr>
        <p:spPr>
          <a:xfrm>
            <a:off x="660400" y="304800"/>
            <a:ext cx="10414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4F5936"/>
                </a:solidFill>
              </a:rPr>
              <a:t>系统介绍与功能测试视频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C1B6E8-EB8D-DD61-918E-0D5227517145}"/>
              </a:ext>
            </a:extLst>
          </p:cNvPr>
          <p:cNvSpPr/>
          <p:nvPr/>
        </p:nvSpPr>
        <p:spPr>
          <a:xfrm>
            <a:off x="660400" y="990600"/>
            <a:ext cx="10871200" cy="12700"/>
          </a:xfrm>
          <a:prstGeom prst="rect">
            <a:avLst/>
          </a:prstGeom>
          <a:solidFill>
            <a:srgbClr val="D0D8C9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15C515-282F-D478-DF2B-41C0EB435B68}"/>
              </a:ext>
            </a:extLst>
          </p:cNvPr>
          <p:cNvSpPr txBox="1"/>
          <p:nvPr/>
        </p:nvSpPr>
        <p:spPr>
          <a:xfrm>
            <a:off x="660400" y="1193800"/>
            <a:ext cx="10795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4F5936"/>
                </a:solidFill>
              </a:rPr>
              <a:t>左侧视频介绍硬件功能；右侧五段视频为实际功能验证证据（未验证项以文字说明标出）。</a:t>
            </a:r>
          </a:p>
        </p:txBody>
      </p:sp>
      <p:sp>
        <p:nvSpPr>
          <p:cNvPr id="5" name="矩形: 圆角 4">
            <a:hlinkClick r:id="rId3" action="ppaction://hlinkfile"/>
            <a:extLst>
              <a:ext uri="{FF2B5EF4-FFF2-40B4-BE49-F238E27FC236}">
                <a16:creationId xmlns:a16="http://schemas.microsoft.com/office/drawing/2014/main" id="{36B77E0E-B664-0500-141C-A8B9033615F4}"/>
              </a:ext>
            </a:extLst>
          </p:cNvPr>
          <p:cNvSpPr/>
          <p:nvPr/>
        </p:nvSpPr>
        <p:spPr>
          <a:xfrm>
            <a:off x="660400" y="1841500"/>
            <a:ext cx="5016500" cy="2921000"/>
          </a:xfrm>
          <a:prstGeom prst="roundRect">
            <a:avLst/>
          </a:prstGeom>
          <a:solidFill>
            <a:srgbClr val="E8EFDD"/>
          </a:solidFill>
          <a:ln w="19050">
            <a:solidFill>
              <a:srgbClr val="9AAB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00" b="1">
                <a:solidFill>
                  <a:srgbClr val="323B1F"/>
                </a:solidFill>
              </a:rPr>
              <a:t>▶  播放硬件功能介绍视频
系统搭建 </a:t>
            </a:r>
            <a:r>
              <a:rPr lang="en-US" altLang="zh-CN" sz="2100" b="1">
                <a:solidFill>
                  <a:srgbClr val="323B1F"/>
                </a:solidFill>
              </a:rPr>
              <a:t>· </a:t>
            </a:r>
            <a:r>
              <a:rPr lang="zh-CN" altLang="en-US" sz="2100" b="1">
                <a:solidFill>
                  <a:srgbClr val="323B1F"/>
                </a:solidFill>
              </a:rPr>
              <a:t>模块功能 </a:t>
            </a:r>
            <a:r>
              <a:rPr lang="en-US" altLang="zh-CN" sz="2100" b="1">
                <a:solidFill>
                  <a:srgbClr val="323B1F"/>
                </a:solidFill>
              </a:rPr>
              <a:t>· </a:t>
            </a:r>
            <a:r>
              <a:rPr lang="zh-CN" altLang="en-US" sz="2100" b="1">
                <a:solidFill>
                  <a:srgbClr val="323B1F"/>
                </a:solidFill>
              </a:rPr>
              <a:t>运行说明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7FA28C-4E2B-6425-1853-D392C6FF53CF}"/>
              </a:ext>
            </a:extLst>
          </p:cNvPr>
          <p:cNvSpPr txBox="1"/>
          <p:nvPr/>
        </p:nvSpPr>
        <p:spPr>
          <a:xfrm>
            <a:off x="6096000" y="18415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b="1">
                <a:solidFill>
                  <a:srgbClr val="4F5936"/>
                </a:solidFill>
              </a:rPr>
              <a:t>功能测试视频（</a:t>
            </a:r>
            <a:r>
              <a:rPr lang="en-US" altLang="zh-CN" sz="1900" b="1">
                <a:solidFill>
                  <a:srgbClr val="4F5936"/>
                </a:solidFill>
              </a:rPr>
              <a:t>5 </a:t>
            </a:r>
            <a:r>
              <a:rPr lang="zh-CN" altLang="en-US" sz="1900" b="1">
                <a:solidFill>
                  <a:srgbClr val="4F5936"/>
                </a:solidFill>
              </a:rPr>
              <a:t>段）</a:t>
            </a:r>
          </a:p>
        </p:txBody>
      </p:sp>
      <p:sp>
        <p:nvSpPr>
          <p:cNvPr id="17" name="矩形: 圆角 16">
            <a:hlinkClick r:id="rId4" action="ppaction://hlinkfile"/>
            <a:extLst>
              <a:ext uri="{FF2B5EF4-FFF2-40B4-BE49-F238E27FC236}">
                <a16:creationId xmlns:a16="http://schemas.microsoft.com/office/drawing/2014/main" id="{4D87CE96-8CC9-70AB-7672-D28F5824AB7E}"/>
              </a:ext>
            </a:extLst>
          </p:cNvPr>
          <p:cNvSpPr/>
          <p:nvPr/>
        </p:nvSpPr>
        <p:spPr>
          <a:xfrm>
            <a:off x="6096000" y="2184400"/>
            <a:ext cx="5334000" cy="482600"/>
          </a:xfrm>
          <a:prstGeom prst="roundRect">
            <a:avLst/>
          </a:prstGeom>
          <a:solidFill>
            <a:srgbClr val="E8EFDD"/>
          </a:solidFill>
          <a:ln>
            <a:solidFill>
              <a:srgbClr val="C3CF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b="1">
                <a:solidFill>
                  <a:srgbClr val="323B1F"/>
                </a:solidFill>
              </a:rPr>
              <a:t>▶  测试</a:t>
            </a:r>
            <a:r>
              <a:rPr lang="en-US" altLang="zh-CN" sz="1350" b="1">
                <a:solidFill>
                  <a:srgbClr val="323B1F"/>
                </a:solidFill>
              </a:rPr>
              <a:t>1  </a:t>
            </a:r>
            <a:r>
              <a:rPr lang="zh-CN" altLang="en-US" sz="1350" b="1">
                <a:solidFill>
                  <a:srgbClr val="323B1F"/>
                </a:solidFill>
              </a:rPr>
              <a:t>正常采集与显示</a:t>
            </a:r>
          </a:p>
        </p:txBody>
      </p:sp>
      <p:sp>
        <p:nvSpPr>
          <p:cNvPr id="18" name="矩形: 圆角 17">
            <a:hlinkClick r:id="rId5" action="ppaction://hlinkfile"/>
            <a:extLst>
              <a:ext uri="{FF2B5EF4-FFF2-40B4-BE49-F238E27FC236}">
                <a16:creationId xmlns:a16="http://schemas.microsoft.com/office/drawing/2014/main" id="{9C3861DD-A851-A15F-76FD-45572A659EDD}"/>
              </a:ext>
            </a:extLst>
          </p:cNvPr>
          <p:cNvSpPr/>
          <p:nvPr/>
        </p:nvSpPr>
        <p:spPr>
          <a:xfrm>
            <a:off x="6096000" y="2641600"/>
            <a:ext cx="5334000" cy="482600"/>
          </a:xfrm>
          <a:prstGeom prst="roundRect">
            <a:avLst/>
          </a:prstGeom>
          <a:solidFill>
            <a:srgbClr val="C5E4F6"/>
          </a:solidFill>
          <a:ln>
            <a:solidFill>
              <a:srgbClr val="C3CF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b="1">
                <a:solidFill>
                  <a:srgbClr val="323B1F"/>
                </a:solidFill>
              </a:rPr>
              <a:t>▶  测试</a:t>
            </a:r>
            <a:r>
              <a:rPr lang="en-US" altLang="zh-CN" sz="1350" b="1">
                <a:solidFill>
                  <a:srgbClr val="323B1F"/>
                </a:solidFill>
              </a:rPr>
              <a:t>2  </a:t>
            </a:r>
            <a:r>
              <a:rPr lang="zh-CN" altLang="en-US" sz="1350" b="1">
                <a:solidFill>
                  <a:srgbClr val="323B1F"/>
                </a:solidFill>
              </a:rPr>
              <a:t>预警联动</a:t>
            </a:r>
          </a:p>
        </p:txBody>
      </p:sp>
      <p:sp>
        <p:nvSpPr>
          <p:cNvPr id="19" name="矩形: 圆角 18">
            <a:hlinkClick r:id="rId6" action="ppaction://hlinkfile"/>
            <a:extLst>
              <a:ext uri="{FF2B5EF4-FFF2-40B4-BE49-F238E27FC236}">
                <a16:creationId xmlns:a16="http://schemas.microsoft.com/office/drawing/2014/main" id="{0B4C5CA2-CBCC-3307-56C6-BE29710F3C06}"/>
              </a:ext>
            </a:extLst>
          </p:cNvPr>
          <p:cNvSpPr/>
          <p:nvPr/>
        </p:nvSpPr>
        <p:spPr>
          <a:xfrm>
            <a:off x="6096000" y="3098800"/>
            <a:ext cx="5334000" cy="482600"/>
          </a:xfrm>
          <a:prstGeom prst="roundRect">
            <a:avLst/>
          </a:prstGeom>
          <a:solidFill>
            <a:srgbClr val="D3D6F3"/>
          </a:solidFill>
          <a:ln>
            <a:solidFill>
              <a:srgbClr val="C3CF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b="1">
                <a:solidFill>
                  <a:srgbClr val="323B1F"/>
                </a:solidFill>
              </a:rPr>
              <a:t>▶  测试</a:t>
            </a:r>
            <a:r>
              <a:rPr lang="en-US" altLang="zh-CN" sz="1350" b="1">
                <a:solidFill>
                  <a:srgbClr val="323B1F"/>
                </a:solidFill>
              </a:rPr>
              <a:t>3  </a:t>
            </a:r>
            <a:r>
              <a:rPr lang="zh-CN" altLang="en-US" sz="1350" b="1">
                <a:solidFill>
                  <a:srgbClr val="323B1F"/>
                </a:solidFill>
              </a:rPr>
              <a:t>严重报警</a:t>
            </a:r>
          </a:p>
        </p:txBody>
      </p:sp>
      <p:sp>
        <p:nvSpPr>
          <p:cNvPr id="20" name="矩形: 圆角 19">
            <a:hlinkClick r:id="rId7" action="ppaction://hlinkfile"/>
            <a:extLst>
              <a:ext uri="{FF2B5EF4-FFF2-40B4-BE49-F238E27FC236}">
                <a16:creationId xmlns:a16="http://schemas.microsoft.com/office/drawing/2014/main" id="{0747DE90-1E6A-1266-8530-1279832465F2}"/>
              </a:ext>
            </a:extLst>
          </p:cNvPr>
          <p:cNvSpPr/>
          <p:nvPr/>
        </p:nvSpPr>
        <p:spPr>
          <a:xfrm>
            <a:off x="6096000" y="3556000"/>
            <a:ext cx="5334000" cy="482600"/>
          </a:xfrm>
          <a:prstGeom prst="roundRect">
            <a:avLst/>
          </a:prstGeom>
          <a:solidFill>
            <a:srgbClr val="F1E4DC"/>
          </a:solidFill>
          <a:ln>
            <a:solidFill>
              <a:srgbClr val="C3CF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b="1">
                <a:solidFill>
                  <a:srgbClr val="323B1F"/>
                </a:solidFill>
              </a:rPr>
              <a:t>▶  测试</a:t>
            </a:r>
            <a:r>
              <a:rPr lang="en-US" altLang="zh-CN" sz="1350" b="1">
                <a:solidFill>
                  <a:srgbClr val="323B1F"/>
                </a:solidFill>
              </a:rPr>
              <a:t>4  </a:t>
            </a:r>
            <a:r>
              <a:rPr lang="zh-CN" altLang="en-US" sz="1350" b="1">
                <a:solidFill>
                  <a:srgbClr val="323B1F"/>
                </a:solidFill>
              </a:rPr>
              <a:t>报警静音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8E1AA4C-F6FB-3D6E-65B7-41DEC3910E6A}"/>
              </a:ext>
            </a:extLst>
          </p:cNvPr>
          <p:cNvSpPr/>
          <p:nvPr/>
        </p:nvSpPr>
        <p:spPr>
          <a:xfrm>
            <a:off x="660400" y="5080000"/>
            <a:ext cx="10769600" cy="1117600"/>
          </a:xfrm>
          <a:prstGeom prst="roundRect">
            <a:avLst/>
          </a:prstGeom>
          <a:solidFill>
            <a:srgbClr val="F7FAF7"/>
          </a:solidFill>
          <a:ln>
            <a:solidFill>
              <a:srgbClr val="D0D8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27000" rtlCol="0" anchor="t"/>
          <a:lstStyle/>
          <a:p>
            <a:r>
              <a:rPr lang="zh-CN" altLang="en-US" sz="1450">
                <a:solidFill>
                  <a:srgbClr val="323B1F"/>
                </a:solidFill>
              </a:rPr>
              <a:t>实际验证内容：① 正常采集与显示　② 预警状态联动　③ 严重报警与风扇运行　④ 报警静音后其他状态保持　⑤ 蓝牙校时、跨时段阈值自动切换</a:t>
            </a:r>
          </a:p>
        </p:txBody>
      </p:sp>
      <p:sp>
        <p:nvSpPr>
          <p:cNvPr id="7" name="Rounded Rectangle 21">
            <a:hlinkClick r:id="rId8" action="ppaction://hlinkfile"/>
            <a:extLst>
              <a:ext uri="{FF2B5EF4-FFF2-40B4-BE49-F238E27FC236}">
                <a16:creationId xmlns:a16="http://schemas.microsoft.com/office/drawing/2014/main" id="{3D99C3BB-6691-FD3A-6685-7688736DC951}"/>
              </a:ext>
            </a:extLst>
          </p:cNvPr>
          <p:cNvSpPr/>
          <p:nvPr/>
        </p:nvSpPr>
        <p:spPr>
          <a:xfrm>
            <a:off x="6096000" y="4013200"/>
            <a:ext cx="5334000" cy="482600"/>
          </a:xfrm>
          <a:prstGeom prst="roundRect">
            <a:avLst/>
          </a:prstGeom>
          <a:solidFill>
            <a:srgbClr val="F7FAF7"/>
          </a:solidFill>
          <a:ln>
            <a:solidFill>
              <a:srgbClr val="C3CF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altLang="en-US" sz="1350" b="1">
                <a:solidFill>
                  <a:srgbClr val="323B1F"/>
                </a:solidFill>
              </a:rPr>
              <a:t>▶  测试</a:t>
            </a:r>
            <a:r>
              <a:rPr lang="en-US" altLang="zh-CN" sz="1350" b="1">
                <a:solidFill>
                  <a:srgbClr val="323B1F"/>
                </a:solidFill>
              </a:rPr>
              <a:t>5  </a:t>
            </a:r>
            <a:r>
              <a:rPr lang="zh-CN" altLang="en-US" sz="1350" b="1">
                <a:solidFill>
                  <a:srgbClr val="323B1F"/>
                </a:solidFill>
              </a:rPr>
              <a:t>校时与分时切换</a:t>
            </a:r>
          </a:p>
        </p:txBody>
      </p:sp>
    </p:spTree>
    <p:extLst>
      <p:ext uri="{BB962C8B-B14F-4D97-AF65-F5344CB8AC3E}">
        <p14:creationId xmlns:p14="http://schemas.microsoft.com/office/powerpoint/2010/main" val="579564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BF5647C-5181-4927-ACCD-BE482938EC0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温湿度准确性测试结果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6425B7E2-49A5-47D1-8945-12001598E49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EE1CDA-602D-4BF4-A273-BDF13767528F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14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8D30C7-5BB2-42EE-8759-A336E480CA44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9906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l">
              <a:defRPr sz="180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三种工况共 30 组对比记录，采用平均绝对误差 MAE 汇总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781050" y="2047875"/>
          <a:ext cx="10620375" cy="2190752"/>
        </p:xfrm>
        <a:graphic>
          <a:graphicData uri="http://schemas.openxmlformats.org/drawingml/2006/table">
            <a:tbl>
              <a:tblPr firstRow="1" bandRow="1"/>
              <a:tblGrid>
                <a:gridCol w="212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工况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温度 MAE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湿度 MAE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温度均值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湿度均值</a:t>
                      </a:r>
                    </a:p>
                  </a:txBody>
                  <a:tcPr>
                    <a:solidFill>
                      <a:srgbClr val="11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A 常温常湿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0.32 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3.05 %RH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27.82 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62.01 %RH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B 较温暖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0.13 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2.52 %RH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32.32 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52.22 %RH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C 较潮湿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0.73 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1.25 %RH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30.95 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6261F"/>
                          </a:solidFill>
                          <a:latin typeface="Arial"/>
                          <a:ea typeface="Arial"/>
                          <a:cs typeface="Arial"/>
                        </a:rPr>
                        <a:t>78.30 %RH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AEE4EEC2-F49A-4DFE-A53D-C5CEFDD1685D}"/>
              </a:ext>
            </a:extLst>
          </p:cNvPr>
          <p:cNvSpPr>
            <a:spLocks noGrp="1"/>
          </p:cNvSpPr>
          <p:nvPr/>
        </p:nvSpPr>
        <p:spPr>
          <a:xfrm>
            <a:off x="1619250" y="4857750"/>
            <a:ext cx="3429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温度 MAE  0.40 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1F5308-D103-4133-AB46-172105085A5E}"/>
              </a:ext>
            </a:extLst>
          </p:cNvPr>
          <p:cNvSpPr>
            <a:spLocks noGrp="1"/>
          </p:cNvSpPr>
          <p:nvPr/>
        </p:nvSpPr>
        <p:spPr>
          <a:xfrm>
            <a:off x="7000875" y="4857750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湿度 MAE  2.27 %RH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3FDB03-49A6-4CB9-8444-BA720CFAB2DD}"/>
              </a:ext>
            </a:extLst>
          </p:cNvPr>
          <p:cNvSpPr>
            <a:spLocks noGrp="1"/>
          </p:cNvSpPr>
          <p:nvPr/>
        </p:nvSpPr>
        <p:spPr>
          <a:xfrm>
            <a:off x="2238375" y="5619750"/>
            <a:ext cx="7715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33"/>
          </a:bodyPr>
          <a:lstStyle/>
          <a:p>
            <a:pPr algn="ctr">
              <a:defRPr sz="150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最大绝对误差：温度 0.79 ℃，相对湿度 5.40 %RH</a:t>
            </a:r>
          </a:p>
        </p:txBody>
      </p:sp>
    </p:spTree>
    <p:extLst>
      <p:ext uri="{BB962C8B-B14F-4D97-AF65-F5344CB8AC3E}">
        <p14:creationId xmlns:p14="http://schemas.microsoft.com/office/powerpoint/2010/main" val="592348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D3F5E58-41E8-432C-9589-B1547CB1973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传感器误差与结果解释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1ACBDE72-7E1B-4004-A825-65FDBC2BD43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0914D6-DB2D-450B-821C-A7A6FCC1AC25}"/>
              </a:ext>
            </a:extLst>
          </p:cNvPr>
          <p:cNvSpPr>
            <a:spLocks noGrp="1"/>
          </p:cNvSpPr>
          <p:nvPr/>
        </p:nvSpPr>
        <p:spPr>
          <a:xfrm>
            <a:off x="10906125" y="409575"/>
            <a:ext cx="571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2F7A63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00" b="1">
                <a:solidFill>
                  <a:srgbClr val="2F7A63"/>
                </a:solidFill>
                <a:latin typeface="Arial"/>
                <a:ea typeface="Arial"/>
                <a:cs typeface="Arial"/>
              </a:rPr>
              <a:t>15</a:t>
            </a:r>
            <a:endParaRPr sz="1600" b="1">
              <a:solidFill>
                <a:srgbClr val="2F7A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D3600FF-90AD-41D1-8C05-7EADF57947A6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4667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B0199C-07B5-4E28-84FD-DA14A0962725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66675" cy="3143250"/>
          </a:xfrm>
          <a:prstGeom prst="rect">
            <a:avLst/>
          </a:prstGeom>
          <a:solidFill>
            <a:srgbClr val="2F7A63"/>
          </a:solidFill>
          <a:ln w="0">
            <a:solidFill>
              <a:srgbClr val="2F7A6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9167B1-97D2-4C94-9E09-BFE345A5D0CA}"/>
              </a:ext>
            </a:extLst>
          </p:cNvPr>
          <p:cNvSpPr>
            <a:spLocks noGrp="1"/>
          </p:cNvSpPr>
          <p:nvPr/>
        </p:nvSpPr>
        <p:spPr>
          <a:xfrm>
            <a:off x="1009650" y="1981200"/>
            <a:ext cx="4305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73" lnSpcReduction="20000"/>
          </a:bodyPr>
          <a:lstStyle/>
          <a:p>
            <a:pPr algn="l">
              <a:defRPr sz="16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DHT22 量程与标称精度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DA4587-2ADA-4971-A061-1852B0976C4B}"/>
              </a:ext>
            </a:extLst>
          </p:cNvPr>
          <p:cNvSpPr>
            <a:spLocks noGrp="1"/>
          </p:cNvSpPr>
          <p:nvPr/>
        </p:nvSpPr>
        <p:spPr>
          <a:xfrm>
            <a:off x="1009650" y="2343150"/>
            <a:ext cx="4267200" cy="2476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工作范围：温度 −40～80 ℃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湿度 0～100 %RH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标称精度：温度 ±0.5 ℃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湿度 ±2 %RH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分辨率：0.1 ℃ / 0.1 %RH</a:t>
            </a:r>
          </a:p>
          <a:p>
            <a:endParaRPr sz="1350" b="0">
              <a:solidFill>
                <a:srgbClr val="68746E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SHT40参考：±0.1 ℃ / ±1.0 %RH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F2F3653-C95E-40D9-916A-8E1E8BC927A3}"/>
              </a:ext>
            </a:extLst>
          </p:cNvPr>
          <p:cNvSpPr>
            <a:spLocks noGrp="1"/>
          </p:cNvSpPr>
          <p:nvPr/>
        </p:nvSpPr>
        <p:spPr>
          <a:xfrm>
            <a:off x="6743700" y="1809750"/>
            <a:ext cx="4667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8C1A25-7E9C-4C05-8BBE-3B0097C59A47}"/>
              </a:ext>
            </a:extLst>
          </p:cNvPr>
          <p:cNvSpPr>
            <a:spLocks noGrp="1"/>
          </p:cNvSpPr>
          <p:nvPr/>
        </p:nvSpPr>
        <p:spPr>
          <a:xfrm>
            <a:off x="6743700" y="1809750"/>
            <a:ext cx="66675" cy="3143250"/>
          </a:xfrm>
          <a:prstGeom prst="rect">
            <a:avLst/>
          </a:prstGeom>
          <a:solidFill>
            <a:srgbClr val="D9902F"/>
          </a:solidFill>
          <a:ln w="0">
            <a:solidFill>
              <a:srgbClr val="D9902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F45696-DBE7-4C61-B337-B50673525BBF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305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73" lnSpcReduction="20000"/>
          </a:bodyPr>
          <a:lstStyle/>
          <a:p>
            <a:pPr algn="l">
              <a:defRPr sz="1650" b="1">
                <a:solidFill>
                  <a:srgbClr val="113B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3B36"/>
                </a:solidFill>
                <a:latin typeface="Arial"/>
                <a:ea typeface="Arial"/>
                <a:cs typeface="Arial"/>
              </a:rPr>
              <a:t>对比结果的含义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4F7DF4-1501-4444-94BB-36FFC41EBEC0}"/>
              </a:ext>
            </a:extLst>
          </p:cNvPr>
          <p:cNvSpPr>
            <a:spLocks noGrp="1"/>
          </p:cNvSpPr>
          <p:nvPr/>
        </p:nvSpPr>
        <p:spPr>
          <a:xfrm>
            <a:off x="6972300" y="2343150"/>
            <a:ext cx="4267200" cy="2476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两者标称误差按均方根合成：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温度约 ±0.51 ℃，湿度约 ±2.24 %RH</a:t>
            </a:r>
          </a:p>
          <a:p>
            <a:endParaRPr sz="1350" b="0">
              <a:solidFill>
                <a:srgbClr val="68746E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本次 MAE：0.40 ℃ / 2.27 %RH</a:t>
            </a:r>
          </a:p>
          <a:p>
            <a:pPr algn="l">
              <a:defRPr sz="1350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最大偏差：0.79 ℃ / 5.40 %RH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2AF53A-607F-4A62-AABE-40E842D7EC0C}"/>
              </a:ext>
            </a:extLst>
          </p:cNvPr>
          <p:cNvSpPr>
            <a:spLocks noGrp="1"/>
          </p:cNvSpPr>
          <p:nvPr/>
        </p:nvSpPr>
        <p:spPr>
          <a:xfrm>
            <a:off x="1066800" y="5219700"/>
            <a:ext cx="10048875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076" lnSpcReduction="10000"/>
          </a:bodyPr>
          <a:lstStyle/>
          <a:p>
            <a:pPr algn="ctr">
              <a:defRPr sz="142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温度 MAE 处于合成标称量级内，湿度 MAE 与该量级接近。个别最大偏差还会受布点位置、局部气流、响应时间和湿度梯度影响。</a:t>
            </a:r>
          </a:p>
          <a:p>
            <a:pPr algn="ctr">
              <a:defRPr sz="1425" b="0">
                <a:solidFill>
                  <a:srgbClr val="6874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46E"/>
                </a:solidFill>
                <a:latin typeface="Arial"/>
                <a:ea typeface="Arial"/>
                <a:cs typeface="Arial"/>
              </a:rPr>
              <a:t>SHT40提供参考读数，不等同于计量标准。</a:t>
            </a:r>
          </a:p>
        </p:txBody>
      </p:sp>
    </p:spTree>
    <p:extLst>
      <p:ext uri="{BB962C8B-B14F-4D97-AF65-F5344CB8AC3E}">
        <p14:creationId xmlns:p14="http://schemas.microsoft.com/office/powerpoint/2010/main" val="1829806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0348D6C-86FD-4330-9A91-6D18ADF38BC0}"/>
              </a:ext>
            </a:extLst>
          </p:cNvPr>
          <p:cNvSpPr>
            <a:spLocks noGrp="1"/>
          </p:cNvSpPr>
          <p:nvPr/>
        </p:nvSpPr>
        <p:spPr>
          <a:xfrm>
            <a:off x="781050" y="742950"/>
            <a:ext cx="2857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563" lnSpcReduction="10000"/>
          </a:bodyPr>
          <a:lstStyle/>
          <a:p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总结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47BB7C-E546-4E65-A86E-0934D5732F84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72390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系统已完成 DHT22 采集链路、显示交互、</a:t>
            </a:r>
          </a:p>
          <a:p>
            <a:pPr algn="l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分级报警与风扇控制框架。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B258DB-1A51-47D4-AFA7-CF7D92263BE0}"/>
              </a:ext>
            </a:extLst>
          </p:cNvPr>
          <p:cNvSpPr>
            <a:spLocks noGrp="1"/>
          </p:cNvSpPr>
          <p:nvPr/>
        </p:nvSpPr>
        <p:spPr>
          <a:xfrm>
            <a:off x="781050" y="3477260"/>
            <a:ext cx="704850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0">
                <a:solidFill>
                  <a:srgbClr val="DDEFE8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 b="0">
                <a:solidFill>
                  <a:srgbClr val="DDEFE8"/>
                </a:solidFill>
                <a:latin typeface="Arial"/>
                <a:ea typeface="Arial"/>
                <a:cs typeface="Arial"/>
              </a:rPr>
              <a:t>完成三种工况对比统计与功能验证，</a:t>
            </a:r>
          </a:p>
          <a:p>
            <a:pPr algn="l">
              <a:defRPr sz="2025" b="0">
                <a:solidFill>
                  <a:srgbClr val="DDEFE8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 b="0">
                <a:solidFill>
                  <a:srgbClr val="DDEFE8"/>
                </a:solidFill>
                <a:latin typeface="Arial"/>
                <a:ea typeface="Arial"/>
                <a:cs typeface="Arial"/>
              </a:rPr>
              <a:t>其中 </a:t>
            </a:r>
            <a:r>
              <a:rPr lang="en-US" altLang="zh-CN" sz="2025" b="0">
                <a:solidFill>
                  <a:srgbClr val="DDEFE8"/>
                </a:solidFill>
                <a:latin typeface="Arial"/>
                <a:ea typeface="Arial"/>
                <a:cs typeface="Arial"/>
              </a:rPr>
              <a:t>4 </a:t>
            </a:r>
            <a:r>
              <a:rPr lang="zh-CN" altLang="en-US" sz="2025" b="0">
                <a:solidFill>
                  <a:srgbClr val="DDEFE8"/>
                </a:solidFill>
                <a:latin typeface="Arial"/>
                <a:ea typeface="Arial"/>
                <a:cs typeface="Arial"/>
              </a:rPr>
              <a:t>项实机通过、</a:t>
            </a:r>
            <a:r>
              <a:rPr lang="en-US" altLang="zh-CN" sz="2025" b="0">
                <a:solidFill>
                  <a:srgbClr val="DDEFE8"/>
                </a:solidFill>
                <a:latin typeface="Arial"/>
                <a:ea typeface="Arial"/>
                <a:cs typeface="Arial"/>
              </a:rPr>
              <a:t>3 </a:t>
            </a:r>
            <a:r>
              <a:rPr lang="zh-CN" altLang="en-US" sz="2025" b="0">
                <a:solidFill>
                  <a:srgbClr val="DDEFE8"/>
                </a:solidFill>
                <a:latin typeface="Arial"/>
                <a:ea typeface="Arial"/>
                <a:cs typeface="Arial"/>
              </a:rPr>
              <a:t>项为逻辑测试。</a:t>
            </a:r>
            <a:endParaRPr sz="2025" b="0">
              <a:solidFill>
                <a:srgbClr val="DDEFE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5A17F9F6-8E47-4223-A6CB-AE74AD8AD8B5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5143500" cy="0"/>
          </a:xfrm>
          <a:prstGeom prst="line">
            <a:avLst/>
          </a:prstGeom>
          <a:noFill/>
          <a:ln w="28575">
            <a:solidFill>
              <a:srgbClr val="79B9A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E26507-ECA7-4997-8A33-0D246AE64B90}"/>
              </a:ext>
            </a:extLst>
          </p:cNvPr>
          <p:cNvSpPr>
            <a:spLocks noGrp="1"/>
          </p:cNvSpPr>
          <p:nvPr/>
        </p:nvSpPr>
        <p:spPr>
          <a:xfrm>
            <a:off x="781050" y="544830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谢谢老师聆听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3A01B7-A587-42AE-9EB8-F914194A2B53}"/>
              </a:ext>
            </a:extLst>
          </p:cNvPr>
          <p:cNvSpPr>
            <a:spLocks noGrp="1"/>
          </p:cNvSpPr>
          <p:nvPr/>
        </p:nvSpPr>
        <p:spPr>
          <a:xfrm>
            <a:off x="781050" y="6038850"/>
            <a:ext cx="523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l">
              <a:defRPr sz="1275" b="0">
                <a:solidFill>
                  <a:srgbClr val="BBD7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D7CA"/>
                </a:solidFill>
                <a:latin typeface="Arial"/>
                <a:ea typeface="Arial"/>
                <a:cs typeface="Arial"/>
              </a:rPr>
              <a:t>课程设计项目组</a:t>
            </a:r>
          </a:p>
        </p:txBody>
      </p:sp>
    </p:spTree>
    <p:extLst>
      <p:ext uri="{BB962C8B-B14F-4D97-AF65-F5344CB8AC3E}">
        <p14:creationId xmlns:p14="http://schemas.microsoft.com/office/powerpoint/2010/main" val="2474297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1655</Words>
  <Application>Microsoft Office PowerPoint</Application>
  <DocSecurity>0</DocSecurity>
  <PresentationFormat>宽屏</PresentationFormat>
  <Paragraphs>243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室内大棚温湿度监测与风扇控制系统答辩汇报</dc:title>
  <dc:creator/>
  <cp:lastModifiedBy>2991954655@qq.com</cp:lastModifiedBy>
  <cp:revision>13</cp:revision>
  <dcterms:created xsi:type="dcterms:W3CDTF">2026-09-16T13:47:02Z</dcterms:created>
  <dcterms:modified xsi:type="dcterms:W3CDTF">2026-09-18T02:47:04Z</dcterms:modified>
</cp:coreProperties>
</file>